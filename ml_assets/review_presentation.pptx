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84" r:id="rId4"/>
    <p:sldId id="285" r:id="rId5"/>
    <p:sldId id="286" r:id="rId6"/>
    <p:sldId id="262" r:id="rId7"/>
    <p:sldId id="263" r:id="rId8"/>
    <p:sldId id="265" r:id="rId9"/>
    <p:sldId id="264" r:id="rId10"/>
    <p:sldId id="287" r:id="rId11"/>
    <p:sldId id="268" r:id="rId12"/>
    <p:sldId id="269" r:id="rId13"/>
    <p:sldId id="288" r:id="rId14"/>
    <p:sldId id="289" r:id="rId15"/>
    <p:sldId id="270" r:id="rId16"/>
    <p:sldId id="290" r:id="rId17"/>
    <p:sldId id="297" r:id="rId18"/>
    <p:sldId id="277" r:id="rId19"/>
    <p:sldId id="278" r:id="rId20"/>
    <p:sldId id="279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IIIT--KOTTAYAM" initials="IK" lastIdx="6" clrIdx="0">
    <p:extLst>
      <p:ext uri="{19B8F6BF-5375-455C-9EA6-DF929625EA0E}">
        <p15:presenceInfo xmlns:p15="http://schemas.microsoft.com/office/powerpoint/2012/main" userId="IIIT--KOTTAYAM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11A2DC-90A9-298E-D2A6-5ABD588811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0F0942F-2C0F-9430-880A-E50EBF781DF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1D25D88-03C7-A58C-3869-5D84317AEF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buNone/>
            </a:pPr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FCCB4C-8B9A-F310-EB87-25CE85C03734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86767629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buNone/>
            </a:pP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405275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29B47E-7FD2-4F7F-9381-C4308D2587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buNone/>
              <a:defRPr sz="6000"/>
            </a:lvl1pPr>
          </a:lstStyle>
          <a:p>
            <a:r>
              <a:rPr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112F421-AC29-47BD-8892-41909CF195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9CFB46-51B2-43F8-B3E5-F10413A22C4E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8F9F855A-7651-4E31-8BB5-9B7BFCF86767}" type="datetimeFigureOut">
              <a:t>9/20/2026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93CC8D-DF4F-4537-888A-8EE6EA88B21B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83F124-D10F-42EF-94F2-7FBC9565EAF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B8702D1-3802-43A1-9CC1-AD6315A316D9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AFAF84-1226-4033-A36F-9CBF8F50CB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402083-37E7-4972-9BD5-DD44F1A3C5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32F544-050C-4AB9-9095-D9D49AAD20A4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8F9F855A-7651-4E31-8BB5-9B7BFCF86767}" type="datetimeFigureOut">
              <a:t>9/20/2026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A83C4-112A-4972-9490-E0C0BFDA0BD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97559D-8902-4FE2-8DC9-183BD5B086A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B8702D1-3802-43A1-9CC1-AD6315A316D9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71EF2A-5C6B-4555-B136-8C1C3CF3E7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buNone/>
              <a:defRPr sz="600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A2A057-50B5-4DD0-8F0A-F2D8D5D2BC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C4B264-D1AA-42A0-AFED-4F6CAB8BF12D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8F9F855A-7651-4E31-8BB5-9B7BFCF86767}" type="datetimeFigureOut">
              <a:t>9/20/2026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07B74F-FC03-4A6C-A8E2-A0A5389178D5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1910F8-597D-4792-BAC8-A78F4A425F7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B8702D1-3802-43A1-9CC1-AD6315A316D9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6D0B0B-FB76-4571-8977-8B3C08C5D6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F7BF79-B272-4FC4-9106-632C8D23CA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08AF5FA-67E8-4EBE-A468-53B751D6CDD3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7AA619-C884-49E4-BAB7-9893F9220280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8F9F855A-7651-4E31-8BB5-9B7BFCF86767}" type="datetimeFigureOut">
              <a:t>9/20/2026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75F6F1-CD3D-4683-B56A-CA4563B56862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C63B8C-7D18-4E19-8978-D5C6EBA9875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B8702D1-3802-43A1-9CC1-AD6315A316D9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877B01-8C23-4336-B1C3-FF72D68AAD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B695C1-E1E9-4A98-937E-ED1C020AD2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D75512-181D-4D77-8CAF-A5144E14BFA3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C35E4DC-DF2F-4F4A-8F3F-9A0A93E622A7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82C58E7-FA62-4552-96A3-2A9903386077}"/>
              </a:ext>
            </a:extLst>
          </p:cNvPr>
          <p:cNvSpPr>
            <a:spLocks noGrp="1"/>
          </p:cNvSpPr>
          <p:nvPr>
            <p:ph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998AE32-9603-437D-8BF7-0E77546FC8D6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8F9F855A-7651-4E31-8BB5-9B7BFCF86767}" type="datetimeFigureOut">
              <a:t>9/20/2026</a:t>
            </a:fld>
            <a:endParaRPr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701969E-3CD1-4F9E-A7E7-B9B4EF8A0C4F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597F010-A6F0-4DF8-A842-5E31FC018D4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B8702D1-3802-43A1-9CC1-AD6315A316D9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8E5A20-2A9F-4D6C-943E-3346E4B880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866C692-C827-4E55-AFA5-76012CD1DAFF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8F9F855A-7651-4E31-8BB5-9B7BFCF86767}" type="datetimeFigureOut">
              <a:t>9/20/2026</a:t>
            </a:fld>
            <a:endParaRPr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49F3284-9696-48B8-984D-EF44AFF57AFA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E3B2182-6056-4315-85AF-6B170A3BD3F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B8702D1-3802-43A1-9CC1-AD6315A316D9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23127D1-DB28-4E2E-AB99-81CE7B31D5D9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8F9F855A-7651-4E31-8BB5-9B7BFCF86767}" type="datetimeFigureOut">
              <a:t>9/20/2026</a:t>
            </a:fld>
            <a:endParaRPr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6D74E91-7F9D-445A-9D5A-D936D47F6130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F7EE57-433A-40AE-9D93-D33BBB3E714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B8702D1-3802-43A1-9CC1-AD6315A316D9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75A1A1-4F5E-44F9-B94A-C250BE5551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buNone/>
              <a:defRPr sz="320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0D6C8D-A700-4FCE-B56C-3A9ABC2F10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6410EC8-7B17-4C9B-9964-44916E02199C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220A7F-94E3-4E5B-BFA0-48322E2FCDBF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8F9F855A-7651-4E31-8BB5-9B7BFCF86767}" type="datetimeFigureOut">
              <a:t>9/20/2026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E378A7-2C2A-4383-8653-F4DA3178C6CB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88D93A-9480-4E63-8798-CD24AF0A91E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B8702D1-3802-43A1-9CC1-AD6315A316D9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EF6621-ECC8-4152-9057-81E2FDAEC2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buNone/>
              <a:defRPr sz="320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93B2BEA-9AD4-4A0C-A422-54C36BB8401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6126CA7-371A-43DB-8F97-FAC204E22554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1BBC57-3C07-4506-B4A1-832FDC2AC2BA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8F9F855A-7651-4E31-8BB5-9B7BFCF86767}" type="datetimeFigureOut">
              <a:t>9/20/2026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1FE5C9-2CC7-4F1D-BC56-0A551A41B615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8682B3-FAFE-491A-8C8A-4FCDBD771F2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B8702D1-3802-43A1-9CC1-AD6315A316D9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254D76-6DBE-44B7-BA10-CABAE4DC19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ED751C6-4C65-4D0C-803C-D873E75728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eaVert"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E3335A-CD1D-48A4-BBF1-DFE274F90F02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8F9F855A-7651-4E31-8BB5-9B7BFCF86767}" type="datetimeFigureOut">
              <a:t>9/20/2026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ED7192-B6E0-4D23-B0F4-2ED81C241449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E35068-BFD5-4BFC-983A-200964FB6DC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B8702D1-3802-43A1-9CC1-AD6315A316D9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9EE84AD-9F49-48BE-9C47-E797DEF603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AD3D05-FE87-4F0F-8AD2-D3A0256B3B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5D02F6-DF5D-4A18-81E3-7798A49C0063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8F9F855A-7651-4E31-8BB5-9B7BFCF86767}" type="datetimeFigureOut">
              <a:t>9/20/2026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B3DD7E-1A38-4F0A-8410-AFE04DC7FD88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FA0932-B146-44C0-800B-F7D153BAA7D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B8702D1-3802-43A1-9CC1-AD6315A316D9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C695D76-3F76-4440-BE44-E11DC8D099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A57BFB-E7FD-43C8-A3D2-454449D5C4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D78B87-4569-4FAE-AC1E-60B780FF4359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9F855A-7651-4E31-8BB5-9B7BFCF86767}" type="datetimeFigureOut">
              <a:t>9/20/2026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29C498-524F-43DB-8E60-5093D891D82E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A8424-BFE9-4B1D-B213-4F570AB349AE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8702D1-3802-43A1-9CC1-AD6315A316D9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hyperlink" Target="https://doi.org/10.1038/s41598-025-32079-7" TargetMode="External"/><Relationship Id="rId13" Type="http://schemas.openxmlformats.org/officeDocument/2006/relationships/hyperlink" Target="https://docs.pytorch.org/vision/main/models/generated/torchvision.models.efficientnet_b0.html" TargetMode="External"/><Relationship Id="rId3" Type="http://schemas.openxmlformats.org/officeDocument/2006/relationships/image" Target="../media/image1.jpeg"/><Relationship Id="rId7" Type="http://schemas.openxmlformats.org/officeDocument/2006/relationships/hyperlink" Target="https://darpg.gov.in/sites/default/files/Comprehensive_guidelines_for_handling_the_Public_Grievances.pdf" TargetMode="External"/><Relationship Id="rId12" Type="http://schemas.openxmlformats.org/officeDocument/2006/relationships/hyperlink" Target="https://www.pib.gov.in/Pressreleaseshare.aspx?PRID=1966498" TargetMode="External"/><Relationship Id="rId17" Type="http://schemas.openxmlformats.org/officeDocument/2006/relationships/hyperlink" Target="https://github.com/pedropro/TACO" TargetMode="External"/><Relationship Id="rId2" Type="http://schemas.openxmlformats.org/officeDocument/2006/relationships/notesSlide" Target="../notesSlides/notesSlide14.xml"/><Relationship Id="rId16" Type="http://schemas.openxmlformats.org/officeDocument/2006/relationships/hyperlink" Target="https://www.pib.gov.in/PressReleasePage.aspx?PRID=2298140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doi.org/10.1038/s41598-026-49982-2" TargetMode="External"/><Relationship Id="rId11" Type="http://schemas.openxmlformats.org/officeDocument/2006/relationships/hyperlink" Target="https://huggingface.co/sentence-transformers/paraphrase-multilingual-MiniLM-L12-v2" TargetMode="External"/><Relationship Id="rId5" Type="http://schemas.openxmlformats.org/officeDocument/2006/relationships/hyperlink" Target="https://www.pib.gov.in/PressReleasePage.aspx?PRID=2296724" TargetMode="External"/><Relationship Id="rId15" Type="http://schemas.openxmlformats.org/officeDocument/2006/relationships/hyperlink" Target="https://github.com/sekilab/RoadDamageDetector" TargetMode="External"/><Relationship Id="rId10" Type="http://schemas.openxmlformats.org/officeDocument/2006/relationships/hyperlink" Target="https://doi.org/10.70715/jitcai.2025.v2.i3.031" TargetMode="External"/><Relationship Id="rId4" Type="http://schemas.openxmlformats.org/officeDocument/2006/relationships/hyperlink" Target="https://doi.org/10.1016/j.softx.2024.101829" TargetMode="External"/><Relationship Id="rId9" Type="http://schemas.openxmlformats.org/officeDocument/2006/relationships/hyperlink" Target="https://huggingface.co/ai4bharat/IndicBERTv2-MLM-only" TargetMode="External"/><Relationship Id="rId14" Type="http://schemas.openxmlformats.org/officeDocument/2006/relationships/hyperlink" Target="https://www.pib.gov.in/PressReleasePage.aspx?PRID=2266985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B31ADB-F64D-4280-8EB5-22ED51C3840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pPr algn="ctr">
              <a:buNone/>
              <a:defRPr sz="6000" b="0" i="0">
                <a:solidFill>
                  <a:srgbClr val="000000"/>
                </a:solidFill>
                <a:latin typeface="Calibri Light"/>
                <a:ea typeface="Calibri Light"/>
                <a:cs typeface="Calibri Light"/>
              </a:defRPr>
            </a:pPr>
            <a:r>
              <a:rPr sz="6000" dirty="0"/>
              <a:t>GRIEVANCEGRID</a:t>
            </a:r>
          </a:p>
          <a:p>
            <a:pPr algn="ctr">
              <a:buNone/>
              <a:defRPr sz="6000" b="0" i="0">
                <a:solidFill>
                  <a:srgbClr val="000000"/>
                </a:solidFill>
                <a:latin typeface="Calibri Light"/>
                <a:ea typeface="Calibri Light"/>
                <a:cs typeface="Calibri Light"/>
              </a:defRPr>
            </a:pPr>
            <a:r>
              <a:rPr sz="2400" dirty="0">
                <a:latin typeface="Calibri"/>
                <a:ea typeface="Calibri"/>
                <a:cs typeface="Calibri"/>
              </a:rPr>
              <a:t>Evidence-Aware Civic Complaint</a:t>
            </a:r>
          </a:p>
          <a:p>
            <a:pPr algn="ctr">
              <a:buNone/>
              <a:defRPr sz="6000" b="0" i="0">
                <a:solidFill>
                  <a:srgbClr val="000000"/>
                </a:solidFill>
                <a:latin typeface="Calibri Light"/>
                <a:ea typeface="Calibri Light"/>
                <a:cs typeface="Calibri Light"/>
              </a:defRPr>
            </a:pPr>
            <a:r>
              <a:rPr sz="2400" dirty="0">
                <a:latin typeface="Calibri"/>
                <a:ea typeface="Calibri"/>
                <a:cs typeface="Calibri"/>
              </a:rPr>
              <a:t>and Resolution Platform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157F01E-332A-4EBA-8651-D62A7AF5238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Autofit/>
          </a:bodyPr>
          <a:lstStyle/>
          <a:p>
            <a:pPr algn="ctr">
              <a:buNone/>
              <a:defRPr sz="2100" b="0" i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100" b="0" i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BY</a:t>
            </a:r>
          </a:p>
          <a:p>
            <a:pPr algn="ctr">
              <a:buNone/>
              <a:defRPr sz="2100" b="0" i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100" b="0" i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DIAN DEBAM DEBASISH</a:t>
            </a:r>
          </a:p>
          <a:p>
            <a:pPr algn="ctr">
              <a:buNone/>
              <a:defRPr sz="2100" b="0" i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100" b="0" i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JAKE S PUTHUSSERY</a:t>
            </a:r>
            <a:endParaRPr/>
          </a:p>
          <a:p>
            <a:pPr algn="ctr">
              <a:buNone/>
              <a:defRPr sz="2100" b="0" i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100" b="0" i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BOGGU SIVA SAI</a:t>
            </a:r>
            <a:endParaRPr/>
          </a:p>
          <a:p>
            <a:pPr algn="ctr">
              <a:buNone/>
              <a:defRPr sz="2100" b="0" i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100" b="0" i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MAHENDRA. K</a:t>
            </a:r>
            <a:endParaRPr/>
          </a:p>
        </p:txBody>
      </p:sp>
      <p:pic>
        <p:nvPicPr>
          <p:cNvPr id="11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2421" y="23813"/>
            <a:ext cx="1751379" cy="815788"/>
          </a:xfrm>
          <a:prstGeom prst="rect">
            <a:avLst/>
          </a:prstGeom>
        </p:spPr>
      </p:pic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D1B41B1-A7BC-4247-89B9-3E1CD4C61EDD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Indian Institute of Information Technology Kottayam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B9A8DC70-E8B1-475C-B2B8-E7FCFFB53422}"/>
              </a:ext>
            </a:extLst>
          </p:cNvPr>
          <p:cNvSpPr>
            <a:spLocks noGrp="1"/>
          </p:cNvSpPr>
          <p:nvPr/>
        </p:nvSpPr>
        <p:spPr>
          <a:xfrm>
            <a:off x="7865175" y="5443347"/>
            <a:ext cx="3474492" cy="1029103"/>
          </a:xfrm>
          <a:prstGeom prst="rect">
            <a:avLst/>
          </a:prstGeom>
        </p:spPr>
        <p:txBody>
          <a:bodyPr vert="horz" lIns="91440" tIns="45720" rIns="91440" bIns="45720">
            <a:noAutofit/>
          </a:bodyPr>
          <a:lstStyle>
            <a:lvl1pPr marL="0" indent="0" algn="ctr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buNone/>
              <a:defRPr sz="2400" i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400" i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Guided By</a:t>
            </a:r>
          </a:p>
          <a:p>
            <a:pPr algn="ctr">
              <a:buNone/>
              <a:defRPr sz="2400" i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400" i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Dr. Jisha Mariyam John</a:t>
            </a:r>
          </a:p>
        </p:txBody>
      </p:sp>
    </p:spTree>
    <p:extLst>
      <p:ext uri="{BB962C8B-B14F-4D97-AF65-F5344CB8AC3E}">
        <p14:creationId xmlns:p14="http://schemas.microsoft.com/office/powerpoint/2010/main" val="25252304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65A75D-43F7-416B-B5B2-652CA30F70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4071" y="84867"/>
            <a:ext cx="10515600" cy="1325563"/>
          </a:xfrm>
        </p:spPr>
        <p:txBody>
          <a:bodyPr>
            <a:noAutofit/>
          </a:bodyPr>
          <a:lstStyle/>
          <a:p>
            <a:pPr algn="l">
              <a:buNone/>
              <a:defRPr sz="4400" b="0" i="0">
                <a:solidFill>
                  <a:srgbClr val="000000"/>
                </a:solidFill>
                <a:latin typeface="Calibri Light"/>
                <a:ea typeface="Calibri Light"/>
                <a:cs typeface="Calibri Light"/>
              </a:defRPr>
            </a:pPr>
            <a:r>
              <a:rPr sz="3600" b="1" i="0" dirty="0">
                <a:solidFill>
                  <a:srgbClr val="000000"/>
                </a:solidFill>
                <a:latin typeface="Calibri Light"/>
                <a:ea typeface="Calibri Light"/>
                <a:cs typeface="Calibri Light"/>
              </a:rPr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6DB426-E46B-4811-8190-85BE6B05CE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2729" y="1371235"/>
            <a:ext cx="10515600" cy="4115530"/>
          </a:xfrm>
        </p:spPr>
        <p:txBody>
          <a:bodyPr lIns="91440" tIns="45720" rIns="91440" bIns="45720">
            <a:noAutofit/>
          </a:bodyPr>
          <a:lstStyle/>
          <a:p>
            <a:pPr>
              <a:lnSpc>
                <a:spcPct val="100000"/>
              </a:lnSpc>
            </a:pPr>
            <a:r>
              <a:rPr lang="en-IN" sz="2000" dirty="0"/>
              <a:t>GrievanceGrid is a civic complaint and resolution platform for reporting local issues through a mobile app or web interface.</a:t>
            </a:r>
          </a:p>
          <a:p>
            <a:pPr>
              <a:lnSpc>
                <a:spcPct val="100000"/>
              </a:lnSpc>
            </a:pPr>
            <a:r>
              <a:rPr lang="en-IN" sz="2000" dirty="0"/>
              <a:t>A single complaint may contain multiple issues, and multiple citizens may report the same underlying incident.</a:t>
            </a:r>
          </a:p>
          <a:p>
            <a:pPr>
              <a:lnSpc>
                <a:spcPct val="100000"/>
              </a:lnSpc>
            </a:pPr>
            <a:r>
              <a:rPr lang="en-IN" sz="2000" dirty="0"/>
              <a:t>The system separates individual issues and links them with relevant evidence, responsibility, departmental work, and responses.</a:t>
            </a:r>
          </a:p>
          <a:p>
            <a:pPr>
              <a:lnSpc>
                <a:spcPct val="100000"/>
              </a:lnSpc>
            </a:pPr>
            <a:r>
              <a:rPr lang="en-IN" sz="2000" dirty="0"/>
              <a:t>AI assists with issue extraction, evidence analysis, and identification of potentially related incidents.</a:t>
            </a:r>
          </a:p>
          <a:p>
            <a:pPr>
              <a:lnSpc>
                <a:spcPct val="100000"/>
              </a:lnSpc>
            </a:pPr>
            <a:r>
              <a:rPr lang="en-IN" sz="2000" dirty="0"/>
              <a:t>Authorised officers verify AI suggestions and retain final decision-making authority.</a:t>
            </a:r>
          </a:p>
          <a:p>
            <a:pPr marL="228600" indent="-228600" algn="l">
              <a:spcAft>
                <a:spcPts val="1600"/>
              </a:spcAft>
              <a:buChar char="•"/>
              <a:defRPr sz="28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endParaRPr sz="20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1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2421" y="0"/>
            <a:ext cx="1751379" cy="815788"/>
          </a:xfrm>
          <a:prstGeom prst="rect">
            <a:avLst/>
          </a:prstGeom>
        </p:spPr>
      </p:pic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51969C2B-8A0E-4C26-AEB4-4279B1EFAAA3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Indian Institute of Information Technology Kottayam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A99A3522-1213-4E2D-9BCB-8C8DDC4A774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>
              <a:buNone/>
              <a:defRPr sz="1600">
                <a:solidFill>
                  <a:srgbClr val="898989"/>
                </a:solidFill>
                <a:latin typeface="Calibri"/>
                <a:ea typeface="Calibri"/>
                <a:cs typeface="Calibri"/>
              </a:defRPr>
            </a:pPr>
            <a:fld id="{E2598689-54C9-18A7-3A19-ED76AA08988F}" type="slidenum">
              <a:rPr sz="1600">
                <a:solidFill>
                  <a:srgbClr val="898989"/>
                </a:solidFill>
                <a:latin typeface="Calibri"/>
                <a:ea typeface="Calibri"/>
                <a:cs typeface="Calibri"/>
              </a:rPr>
              <a:t>2</a:t>
            </a:fld>
            <a:endParaRPr sz="1600"/>
          </a:p>
        </p:txBody>
      </p:sp>
    </p:spTree>
    <p:extLst>
      <p:ext uri="{BB962C8B-B14F-4D97-AF65-F5344CB8AC3E}">
        <p14:creationId xmlns:p14="http://schemas.microsoft.com/office/powerpoint/2010/main" val="6130663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381D5B-33F0-112E-AC33-C5CB6FA8E3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6C3ABC-5490-0B8A-49E1-8734ACCCFA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942" y="314988"/>
            <a:ext cx="10515600" cy="1325563"/>
          </a:xfrm>
        </p:spPr>
        <p:txBody>
          <a:bodyPr>
            <a:noAutofit/>
          </a:bodyPr>
          <a:lstStyle/>
          <a:p>
            <a:pPr>
              <a:defRPr sz="4400" b="0" i="0">
                <a:solidFill>
                  <a:srgbClr val="000000"/>
                </a:solidFill>
                <a:latin typeface="Calibri Light"/>
                <a:ea typeface="Calibri Light"/>
                <a:cs typeface="Calibri Light"/>
              </a:defRPr>
            </a:pPr>
            <a:r>
              <a:rPr lang="en-IN" sz="3600" b="1" dirty="0">
                <a:solidFill>
                  <a:srgbClr val="000000"/>
                </a:solidFill>
                <a:latin typeface="Calibri Light"/>
              </a:rPr>
              <a:t>Why GrievanceGrid?</a:t>
            </a:r>
            <a:br>
              <a:rPr lang="en-IN" sz="3600" b="1" dirty="0">
                <a:solidFill>
                  <a:srgbClr val="000000"/>
                </a:solidFill>
                <a:latin typeface="Calibri Light"/>
              </a:rPr>
            </a:br>
            <a:endParaRPr sz="3600" b="1" i="0" dirty="0">
              <a:solidFill>
                <a:srgbClr val="000000"/>
              </a:solidFill>
              <a:latin typeface="Calibri Light"/>
              <a:ea typeface="Calibri Light"/>
              <a:cs typeface="Calibri Ligh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8C0128-3BF8-34DA-BCD6-B1233F7230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6755" y="1277904"/>
            <a:ext cx="10515600" cy="4115530"/>
          </a:xfrm>
        </p:spPr>
        <p:txBody>
          <a:bodyPr lIns="91440" tIns="45720" rIns="91440" bIns="45720">
            <a:noAutofit/>
          </a:bodyPr>
          <a:lstStyle/>
          <a:p>
            <a:pPr>
              <a:lnSpc>
                <a:spcPct val="100000"/>
              </a:lnSpc>
            </a:pPr>
            <a:r>
              <a:rPr lang="en-IN" sz="2000" b="1" dirty="0"/>
              <a:t>Multiple Issues</a:t>
            </a:r>
            <a:br>
              <a:rPr lang="en-IN" sz="2000" dirty="0"/>
            </a:br>
            <a:r>
              <a:rPr lang="en-IN" sz="2000" dirty="0"/>
              <a:t>One complaint may contain several issues, such as </a:t>
            </a:r>
            <a:r>
              <a:rPr lang="en-IN" sz="2000" b="1" dirty="0"/>
              <a:t>road damage, garbage accumulation, waterlogging, or open-drain blockage</a:t>
            </a:r>
            <a:r>
              <a:rPr lang="en-IN" sz="2000" dirty="0"/>
              <a:t>, requiring separate attention.</a:t>
            </a:r>
          </a:p>
          <a:p>
            <a:pPr>
              <a:lnSpc>
                <a:spcPct val="100000"/>
              </a:lnSpc>
            </a:pPr>
            <a:r>
              <a:rPr lang="en-IN" sz="2000" b="1" dirty="0"/>
              <a:t>Repeated Reports</a:t>
            </a:r>
            <a:br>
              <a:rPr lang="en-IN" sz="2000" dirty="0"/>
            </a:br>
            <a:r>
              <a:rPr lang="en-IN" sz="2000" dirty="0"/>
              <a:t>Different citizens may report the same incident.</a:t>
            </a:r>
          </a:p>
          <a:p>
            <a:pPr>
              <a:lnSpc>
                <a:spcPct val="100000"/>
              </a:lnSpc>
            </a:pPr>
            <a:r>
              <a:rPr lang="en-IN" sz="2000" b="1" dirty="0"/>
              <a:t>Responsibility &amp; Evidence</a:t>
            </a:r>
            <a:br>
              <a:rPr lang="en-IN" sz="2000" dirty="0"/>
            </a:br>
            <a:r>
              <a:rPr lang="en-IN" sz="2000" dirty="0"/>
              <a:t>Each issue may require a different department and supporting evidence.</a:t>
            </a:r>
          </a:p>
          <a:p>
            <a:pPr>
              <a:lnSpc>
                <a:spcPct val="100000"/>
              </a:lnSpc>
            </a:pPr>
            <a:r>
              <a:rPr lang="en-IN" sz="2000" b="1" dirty="0"/>
              <a:t>Complete Resolution</a:t>
            </a:r>
            <a:br>
              <a:rPr lang="en-IN" sz="2000" dirty="0"/>
            </a:br>
            <a:r>
              <a:rPr lang="en-IN" sz="2000" dirty="0"/>
              <a:t>A response to one issue does not mean that all reported issues are resolved</a:t>
            </a:r>
          </a:p>
          <a:p>
            <a:pPr marL="228600" indent="-228600" algn="l">
              <a:lnSpc>
                <a:spcPct val="100000"/>
              </a:lnSpc>
              <a:spcAft>
                <a:spcPts val="1600"/>
              </a:spcAft>
              <a:buChar char="•"/>
              <a:defRPr sz="28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endParaRPr sz="20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14" name="Picture 4">
            <a:extLst>
              <a:ext uri="{FF2B5EF4-FFF2-40B4-BE49-F238E27FC236}">
                <a16:creationId xmlns:a16="http://schemas.microsoft.com/office/drawing/2014/main" id="{9DBA8DE6-B2D8-5FE9-C433-D62DA77E9F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2421" y="0"/>
            <a:ext cx="1751379" cy="815788"/>
          </a:xfrm>
          <a:prstGeom prst="rect">
            <a:avLst/>
          </a:prstGeom>
        </p:spPr>
      </p:pic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A1EC35D6-AA25-F3A7-B33C-257DEC1AA34C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Indian Institute of Information Technology Kottayam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3F6018B4-0D68-BB4E-9092-9006E7DD6C3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>
              <a:buNone/>
              <a:defRPr sz="1600">
                <a:solidFill>
                  <a:srgbClr val="898989"/>
                </a:solidFill>
                <a:latin typeface="Calibri"/>
                <a:ea typeface="Calibri"/>
                <a:cs typeface="Calibri"/>
              </a:defRPr>
            </a:pPr>
            <a:fld id="{E2598689-54C9-18A7-3A19-ED76AA08988F}" type="slidenum">
              <a:rPr sz="1600">
                <a:solidFill>
                  <a:srgbClr val="898989"/>
                </a:solidFill>
                <a:latin typeface="Calibri"/>
                <a:ea typeface="Calibri"/>
                <a:cs typeface="Calibri"/>
              </a:rPr>
              <a:t>3</a:t>
            </a:fld>
            <a:endParaRPr sz="1600"/>
          </a:p>
        </p:txBody>
      </p:sp>
    </p:spTree>
    <p:extLst>
      <p:ext uri="{BB962C8B-B14F-4D97-AF65-F5344CB8AC3E}">
        <p14:creationId xmlns:p14="http://schemas.microsoft.com/office/powerpoint/2010/main" val="19530227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D2221760-2BF0-EEC3-E44F-D25C352B63C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53715587"/>
              </p:ext>
            </p:extLst>
          </p:nvPr>
        </p:nvGraphicFramePr>
        <p:xfrm>
          <a:off x="629265" y="757084"/>
          <a:ext cx="10687664" cy="597801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71916">
                  <a:extLst>
                    <a:ext uri="{9D8B030D-6E8A-4147-A177-3AD203B41FA5}">
                      <a16:colId xmlns:a16="http://schemas.microsoft.com/office/drawing/2014/main" val="1368466691"/>
                    </a:ext>
                  </a:extLst>
                </a:gridCol>
                <a:gridCol w="2671916">
                  <a:extLst>
                    <a:ext uri="{9D8B030D-6E8A-4147-A177-3AD203B41FA5}">
                      <a16:colId xmlns:a16="http://schemas.microsoft.com/office/drawing/2014/main" val="2019225756"/>
                    </a:ext>
                  </a:extLst>
                </a:gridCol>
                <a:gridCol w="2671916">
                  <a:extLst>
                    <a:ext uri="{9D8B030D-6E8A-4147-A177-3AD203B41FA5}">
                      <a16:colId xmlns:a16="http://schemas.microsoft.com/office/drawing/2014/main" val="552973873"/>
                    </a:ext>
                  </a:extLst>
                </a:gridCol>
                <a:gridCol w="2671916">
                  <a:extLst>
                    <a:ext uri="{9D8B030D-6E8A-4147-A177-3AD203B41FA5}">
                      <a16:colId xmlns:a16="http://schemas.microsoft.com/office/drawing/2014/main" val="3992990680"/>
                    </a:ext>
                  </a:extLst>
                </a:gridCol>
              </a:tblGrid>
              <a:tr h="37580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dirty="0"/>
                        <a:t> Paper</a:t>
                      </a:r>
                    </a:p>
                  </a:txBody>
                  <a:tcPr marL="39201" marR="39201" marT="19601" marB="196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Main Work</a:t>
                      </a:r>
                    </a:p>
                  </a:txBody>
                  <a:tcPr marL="39201" marR="39201" marT="19601" marB="196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Key Limitation</a:t>
                      </a:r>
                    </a:p>
                  </a:txBody>
                  <a:tcPr marL="39201" marR="39201" marT="19601" marB="196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dirty="0"/>
                        <a:t>Relevance to GrievanceGrid</a:t>
                      </a:r>
                    </a:p>
                  </a:txBody>
                  <a:tcPr marL="39201" marR="39201" marT="19601" marB="19601" anchor="ctr"/>
                </a:tc>
                <a:extLst>
                  <a:ext uri="{0D108BD9-81ED-4DB2-BD59-A6C34878D82A}">
                    <a16:rowId xmlns:a16="http://schemas.microsoft.com/office/drawing/2014/main" val="1689188473"/>
                  </a:ext>
                </a:extLst>
              </a:tr>
              <a:tr h="11851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dirty="0" err="1"/>
                        <a:t>CitySolution</a:t>
                      </a:r>
                      <a:r>
                        <a:rPr lang="en-IN" sz="1300" dirty="0"/>
                        <a:t> (Shama et al., 2024) [1]</a:t>
                      </a:r>
                    </a:p>
                  </a:txBody>
                  <a:tcPr marL="39201" marR="39201" marT="19601" marB="196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Android citizen and authority apps with image-based civic complaint classification using transfer learning.</a:t>
                      </a:r>
                    </a:p>
                  </a:txBody>
                  <a:tcPr marL="39201" marR="39201" marT="19601" marB="196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Focuses on image classification and a limited set of complaint categories; does not model multiple issues or issue-level response coverage.</a:t>
                      </a:r>
                    </a:p>
                  </a:txBody>
                  <a:tcPr marL="39201" marR="39201" marT="19601" marB="196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Motivates visual evidence analysis and transfer learning for civic complaints.</a:t>
                      </a:r>
                    </a:p>
                  </a:txBody>
                  <a:tcPr marL="39201" marR="39201" marT="19601" marB="19601" anchor="ctr"/>
                </a:tc>
                <a:extLst>
                  <a:ext uri="{0D108BD9-81ED-4DB2-BD59-A6C34878D82A}">
                    <a16:rowId xmlns:a16="http://schemas.microsoft.com/office/drawing/2014/main" val="2051997780"/>
                  </a:ext>
                </a:extLst>
              </a:tr>
              <a:tr h="102331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Transformer-GNN for Social Governance (Yang et al., 2026) [2]</a:t>
                      </a:r>
                    </a:p>
                  </a:txBody>
                  <a:tcPr marL="39201" marR="39201" marT="19601" marB="196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dirty="0"/>
                        <a:t>Combines Transformer and GNN models to learn temporal, textual, spatial, and service relationships from NYC 311 data.</a:t>
                      </a:r>
                    </a:p>
                  </a:txBody>
                  <a:tcPr marL="39201" marR="39201" marT="19601" marB="196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High computational cost; evaluated on one city dataset; uses a relatively static graph; complex models reduce interpretability.</a:t>
                      </a:r>
                    </a:p>
                  </a:txBody>
                  <a:tcPr marL="39201" marR="39201" marT="19601" marB="196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Motivates relationship-aware incident analysis. We begin with explicit text, location, time, and issue matching.</a:t>
                      </a:r>
                    </a:p>
                  </a:txBody>
                  <a:tcPr marL="39201" marR="39201" marT="19601" marB="19601" anchor="ctr"/>
                </a:tc>
                <a:extLst>
                  <a:ext uri="{0D108BD9-81ED-4DB2-BD59-A6C34878D82A}">
                    <a16:rowId xmlns:a16="http://schemas.microsoft.com/office/drawing/2014/main" val="981998920"/>
                  </a:ext>
                </a:extLst>
              </a:tr>
              <a:tr h="11851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Multimodal LLM Grievance Framework (Rajkumar et al., 2026) [3]</a:t>
                      </a:r>
                    </a:p>
                  </a:txBody>
                  <a:tcPr marL="39201" marR="39201" marT="19601" marB="196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dirty="0"/>
                        <a:t>Uses text and voice processing for grievance classification, urgency estimation, routing, and abuse detection.</a:t>
                      </a:r>
                    </a:p>
                  </a:txBody>
                  <a:tcPr marL="39201" marR="39201" marT="19601" marB="196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dirty="0"/>
                        <a:t>Voice performance can degrade with noise and dialects; routing can be ambiguous for multi-department complaints; image evidence is not included.</a:t>
                      </a:r>
                    </a:p>
                  </a:txBody>
                  <a:tcPr marL="39201" marR="39201" marT="19601" marB="196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Supports NLP-based grievance understanding while leaving room for image evidence and issue-level resolution analysis.</a:t>
                      </a:r>
                    </a:p>
                  </a:txBody>
                  <a:tcPr marL="39201" marR="39201" marT="19601" marB="19601" anchor="ctr"/>
                </a:tc>
                <a:extLst>
                  <a:ext uri="{0D108BD9-81ED-4DB2-BD59-A6C34878D82A}">
                    <a16:rowId xmlns:a16="http://schemas.microsoft.com/office/drawing/2014/main" val="3973927416"/>
                  </a:ext>
                </a:extLst>
              </a:tr>
              <a:tr h="102331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Public Service Grievance Topic Modelling (Deka &amp; Srivastava, 2025) [4]</a:t>
                      </a:r>
                    </a:p>
                  </a:txBody>
                  <a:tcPr marL="39201" marR="39201" marT="19601" marB="196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Compares LSA, NMF, LDA and BERTopic for discovering themes in government grievance data.</a:t>
                      </a:r>
                    </a:p>
                  </a:txBody>
                  <a:tcPr marL="39201" marR="39201" marT="19601" marB="196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dirty="0"/>
                        <a:t>Finds broad topics rather than individual issues and does not evaluate responsibility, incident linking, or resolution coverage.</a:t>
                      </a:r>
                    </a:p>
                  </a:txBody>
                  <a:tcPr marL="39201" marR="39201" marT="19601" marB="196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dirty="0"/>
                        <a:t>Supports grievance-text analysis and careful data cleaning; GrievanceGrid works at the individual issue level.</a:t>
                      </a:r>
                    </a:p>
                  </a:txBody>
                  <a:tcPr marL="39201" marR="39201" marT="19601" marB="19601" anchor="ctr"/>
                </a:tc>
                <a:extLst>
                  <a:ext uri="{0D108BD9-81ED-4DB2-BD59-A6C34878D82A}">
                    <a16:rowId xmlns:a16="http://schemas.microsoft.com/office/drawing/2014/main" val="3131171200"/>
                  </a:ext>
                </a:extLst>
              </a:tr>
              <a:tr h="11851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Citizen Request Classification in Boston (Kim &amp; Hong, 2021) [5]</a:t>
                      </a:r>
                    </a:p>
                  </a:txBody>
                  <a:tcPr marL="39201" marR="39201" marT="19601" marB="196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Applies deep-learning and data-balancing methods to classify unstructured transportation requests.</a:t>
                      </a:r>
                    </a:p>
                  </a:txBody>
                  <a:tcPr marL="39201" marR="39201" marT="19601" marB="196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Focused on transportation requests from one city; classification is the main task and does not follow complaints through departmental resolution.</a:t>
                      </a:r>
                    </a:p>
                  </a:txBody>
                  <a:tcPr marL="39201" marR="39201" marT="19601" marB="196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dirty="0"/>
                        <a:t>Supports automated text classification while GrievanceGrid extends analysis beyond classification.</a:t>
                      </a:r>
                    </a:p>
                  </a:txBody>
                  <a:tcPr marL="39201" marR="39201" marT="19601" marB="19601" anchor="ctr"/>
                </a:tc>
                <a:extLst>
                  <a:ext uri="{0D108BD9-81ED-4DB2-BD59-A6C34878D82A}">
                    <a16:rowId xmlns:a16="http://schemas.microsoft.com/office/drawing/2014/main" val="322372731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B62F1FB3-9656-9D14-7FCE-A6E8FC4A2D87}"/>
              </a:ext>
            </a:extLst>
          </p:cNvPr>
          <p:cNvSpPr txBox="1"/>
          <p:nvPr/>
        </p:nvSpPr>
        <p:spPr>
          <a:xfrm>
            <a:off x="452284" y="122903"/>
            <a:ext cx="38247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dirty="0"/>
              <a:t>Literature Review</a:t>
            </a:r>
          </a:p>
        </p:txBody>
      </p:sp>
    </p:spTree>
    <p:extLst>
      <p:ext uri="{BB962C8B-B14F-4D97-AF65-F5344CB8AC3E}">
        <p14:creationId xmlns:p14="http://schemas.microsoft.com/office/powerpoint/2010/main" val="27903885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42A69E-6827-3A4A-71C5-3025DFC41B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2F66951-E572-66F1-3024-E69B7987A92B}"/>
              </a:ext>
            </a:extLst>
          </p:cNvPr>
          <p:cNvSpPr txBox="1"/>
          <p:nvPr/>
        </p:nvSpPr>
        <p:spPr>
          <a:xfrm>
            <a:off x="363794" y="216310"/>
            <a:ext cx="38247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dirty="0"/>
              <a:t>Literature Review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617FEDF-D9EA-64C3-2C1A-9F9FA311D9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87123410"/>
              </p:ext>
            </p:extLst>
          </p:nvPr>
        </p:nvGraphicFramePr>
        <p:xfrm>
          <a:off x="506362" y="924233"/>
          <a:ext cx="11179276" cy="571745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794819">
                  <a:extLst>
                    <a:ext uri="{9D8B030D-6E8A-4147-A177-3AD203B41FA5}">
                      <a16:colId xmlns:a16="http://schemas.microsoft.com/office/drawing/2014/main" val="131524954"/>
                    </a:ext>
                  </a:extLst>
                </a:gridCol>
                <a:gridCol w="2794819">
                  <a:extLst>
                    <a:ext uri="{9D8B030D-6E8A-4147-A177-3AD203B41FA5}">
                      <a16:colId xmlns:a16="http://schemas.microsoft.com/office/drawing/2014/main" val="1708461534"/>
                    </a:ext>
                  </a:extLst>
                </a:gridCol>
                <a:gridCol w="2794819">
                  <a:extLst>
                    <a:ext uri="{9D8B030D-6E8A-4147-A177-3AD203B41FA5}">
                      <a16:colId xmlns:a16="http://schemas.microsoft.com/office/drawing/2014/main" val="1724827168"/>
                    </a:ext>
                  </a:extLst>
                </a:gridCol>
                <a:gridCol w="2794819">
                  <a:extLst>
                    <a:ext uri="{9D8B030D-6E8A-4147-A177-3AD203B41FA5}">
                      <a16:colId xmlns:a16="http://schemas.microsoft.com/office/drawing/2014/main" val="3496645044"/>
                    </a:ext>
                  </a:extLst>
                </a:gridCol>
              </a:tblGrid>
              <a:tr h="3401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Paper</a:t>
                      </a:r>
                    </a:p>
                  </a:txBody>
                  <a:tcPr marL="38170" marR="38170" marT="19085" marB="1908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Main Work</a:t>
                      </a:r>
                    </a:p>
                  </a:txBody>
                  <a:tcPr marL="38170" marR="38170" marT="19085" marB="1908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Key Limitation</a:t>
                      </a:r>
                    </a:p>
                  </a:txBody>
                  <a:tcPr marL="38170" marR="38170" marT="19085" marB="1908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Relevance to GrievanceGrid</a:t>
                      </a:r>
                    </a:p>
                  </a:txBody>
                  <a:tcPr marL="38170" marR="38170" marT="19085" marB="19085" anchor="ctr"/>
                </a:tc>
                <a:extLst>
                  <a:ext uri="{0D108BD9-81ED-4DB2-BD59-A6C34878D82A}">
                    <a16:rowId xmlns:a16="http://schemas.microsoft.com/office/drawing/2014/main" val="3657185173"/>
                  </a:ext>
                </a:extLst>
              </a:tr>
              <a:tr h="10754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Intelligent Government Complaint Prediction (Chen et al., 2022) [6]</a:t>
                      </a:r>
                    </a:p>
                  </a:txBody>
                  <a:tcPr marL="38170" marR="38170" marT="19085" marB="1908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Uses ML-based text classification and automatic label correction to improve government complaint prediction and department assignment.</a:t>
                      </a:r>
                    </a:p>
                  </a:txBody>
                  <a:tcPr marL="38170" marR="38170" marT="19085" marB="1908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Mainly treats complaint handling as classification; noisy and imbalanced labels remain a challenge; does not model multi-issue resolution.</a:t>
                      </a:r>
                    </a:p>
                  </a:txBody>
                  <a:tcPr marL="38170" marR="38170" marT="19085" marB="1908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Highlights the importance of reliable labels and structured complaint data for our NLP models.</a:t>
                      </a:r>
                    </a:p>
                  </a:txBody>
                  <a:tcPr marL="38170" marR="38170" marT="19085" marB="19085" anchor="ctr"/>
                </a:tc>
                <a:extLst>
                  <a:ext uri="{0D108BD9-81ED-4DB2-BD59-A6C34878D82A}">
                    <a16:rowId xmlns:a16="http://schemas.microsoft.com/office/drawing/2014/main" val="3292212648"/>
                  </a:ext>
                </a:extLst>
              </a:tr>
              <a:tr h="10754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Structure of 311 Service Requests (Wang et al., 2017) [7]</a:t>
                      </a:r>
                    </a:p>
                  </a:txBody>
                  <a:tcPr marL="38170" marR="38170" marT="19085" marB="1908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Uses the spatial and temporal structure of 311 requests to characterize urban locations.</a:t>
                      </a:r>
                    </a:p>
                  </a:txBody>
                  <a:tcPr marL="38170" marR="38170" marT="19085" marB="1908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Service-request categories differ between cities and over time; analysis is mainly at aggregated location level rather than individual incident level.</a:t>
                      </a:r>
                    </a:p>
                  </a:txBody>
                  <a:tcPr marL="38170" marR="38170" marT="19085" marB="1908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Supports our use of spatial and temporal information when identifying related reports.</a:t>
                      </a:r>
                    </a:p>
                  </a:txBody>
                  <a:tcPr marL="38170" marR="38170" marT="19085" marB="19085" anchor="ctr"/>
                </a:tc>
                <a:extLst>
                  <a:ext uri="{0D108BD9-81ED-4DB2-BD59-A6C34878D82A}">
                    <a16:rowId xmlns:a16="http://schemas.microsoft.com/office/drawing/2014/main" val="1020209777"/>
                  </a:ext>
                </a:extLst>
              </a:tr>
              <a:tr h="9284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Citizen Complaints as an Accountability Mechanism (Olivos et al., 2023) [8]</a:t>
                      </a:r>
                    </a:p>
                  </a:txBody>
                  <a:tcPr marL="38170" marR="38170" marT="19085" marB="1908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Uses NLP and topic modelling to identify patterns in 1,623 complaints and study changes over time.</a:t>
                      </a:r>
                    </a:p>
                  </a:txBody>
                  <a:tcPr marL="38170" marR="38170" marT="19085" marB="1908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Focuses on thematic patterns in police complaints rather than operational routing, evidence, departmental work, or resolution.</a:t>
                      </a:r>
                    </a:p>
                  </a:txBody>
                  <a:tcPr marL="38170" marR="38170" marT="19085" marB="1908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Shows how complaint text can reveal meaningful patterns while GrievanceGrid focuses on the complete complaint lifecycle.</a:t>
                      </a:r>
                    </a:p>
                  </a:txBody>
                  <a:tcPr marL="38170" marR="38170" marT="19085" marB="19085" anchor="ctr"/>
                </a:tc>
                <a:extLst>
                  <a:ext uri="{0D108BD9-81ED-4DB2-BD59-A6C34878D82A}">
                    <a16:rowId xmlns:a16="http://schemas.microsoft.com/office/drawing/2014/main" val="337852115"/>
                  </a:ext>
                </a:extLst>
              </a:tr>
              <a:tr h="10754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Machine Learning Analysis of 311 Requests (Cheng et al., 2022) [9]</a:t>
                      </a:r>
                    </a:p>
                  </a:txBody>
                  <a:tcPr marL="38170" marR="38170" marT="19085" marB="1908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Applies Random Forest, SVM, regularised regression and XGBoost to analyse 311 request volumes and spatial patterns in Miami-Dade County.</a:t>
                      </a:r>
                    </a:p>
                  </a:txBody>
                  <a:tcPr marL="38170" marR="38170" marT="19085" marB="1908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Focuses on predicting request volume and community characteristics rather than linking individual reports or evaluating resolution.</a:t>
                      </a:r>
                    </a:p>
                  </a:txBody>
                  <a:tcPr marL="38170" marR="38170" marT="19085" marB="1908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Supports the use of spatial patterns and ML for civic-service analysis.</a:t>
                      </a:r>
                    </a:p>
                  </a:txBody>
                  <a:tcPr marL="38170" marR="38170" marT="19085" marB="19085" anchor="ctr"/>
                </a:tc>
                <a:extLst>
                  <a:ext uri="{0D108BD9-81ED-4DB2-BD59-A6C34878D82A}">
                    <a16:rowId xmlns:a16="http://schemas.microsoft.com/office/drawing/2014/main" val="3246469548"/>
                  </a:ext>
                </a:extLst>
              </a:tr>
              <a:tr h="122251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Social Sensing with 12345 Complaint Data (2022) [10]</a:t>
                      </a:r>
                    </a:p>
                  </a:txBody>
                  <a:tcPr marL="38170" marR="38170" marT="19085" marB="1908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Builds an urban problem classification tree, automatically classifies complaints, and improves departmental responsibility assignment.</a:t>
                      </a:r>
                    </a:p>
                  </a:txBody>
                  <a:tcPr marL="38170" marR="38170" marT="19085" marB="1908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Focuses mainly on classification and responsibility allocation; it does not provide issue-level evidence provenance or response-coverage auditing.</a:t>
                      </a:r>
                    </a:p>
                  </a:txBody>
                  <a:tcPr marL="38170" marR="38170" marT="19085" marB="1908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Closely supports our classification and responsibility stage, while GrievanceGrid extends the workflow through evidence and resolution review.</a:t>
                      </a:r>
                    </a:p>
                  </a:txBody>
                  <a:tcPr marL="38170" marR="38170" marT="19085" marB="19085" anchor="ctr"/>
                </a:tc>
                <a:extLst>
                  <a:ext uri="{0D108BD9-81ED-4DB2-BD59-A6C34878D82A}">
                    <a16:rowId xmlns:a16="http://schemas.microsoft.com/office/drawing/2014/main" val="4033716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378230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51A2C2-8F53-452C-B770-646B6C8990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554" y="292464"/>
            <a:ext cx="10515600" cy="1325563"/>
          </a:xfrm>
        </p:spPr>
        <p:txBody>
          <a:bodyPr>
            <a:noAutofit/>
          </a:bodyPr>
          <a:lstStyle/>
          <a:p>
            <a:pPr>
              <a:defRPr sz="4400" b="0" i="0">
                <a:solidFill>
                  <a:srgbClr val="000000"/>
                </a:solidFill>
                <a:latin typeface="Calibri Light"/>
                <a:ea typeface="Calibri Light"/>
                <a:cs typeface="Calibri Light"/>
              </a:defRPr>
            </a:pPr>
            <a:r>
              <a:rPr lang="en-IN" sz="3600" b="1" dirty="0">
                <a:solidFill>
                  <a:srgbClr val="000000"/>
                </a:solidFill>
                <a:latin typeface="Calibri Light"/>
              </a:rPr>
              <a:t>CPGRAMS: Existing AI and Next-Generation    Developments</a:t>
            </a:r>
            <a:endParaRPr sz="3600" b="1" i="0" dirty="0">
              <a:solidFill>
                <a:srgbClr val="000000"/>
              </a:solidFill>
              <a:latin typeface="Calibri Light"/>
              <a:ea typeface="Calibri Light"/>
              <a:cs typeface="Calibri Ligh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7E1BB6-A26D-498D-A884-DE900BC1E0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115530"/>
          </a:xfrm>
        </p:spPr>
        <p:txBody>
          <a:bodyPr lIns="91440" tIns="45720" rIns="91440" bIns="45720">
            <a:noAutofit/>
          </a:bodyPr>
          <a:lstStyle/>
          <a:p>
            <a:pPr lvl="0">
              <a:lnSpc>
                <a:spcPct val="100000"/>
              </a:lnSpc>
            </a:pPr>
            <a:r>
              <a:rPr lang="en-IN" sz="2000" b="1" dirty="0"/>
              <a:t>IGMS 2.0</a:t>
            </a:r>
            <a:r>
              <a:rPr lang="en-IN" sz="2000" dirty="0"/>
              <a:t> already uses AI/ML to analyse grievances, including detection of repetitive or spam complaints, semantic analysis, topic identification, and spatiotemporal analysis </a:t>
            </a:r>
            <a:r>
              <a:rPr lang="en-IN" sz="2000" b="1" dirty="0"/>
              <a:t>[5].</a:t>
            </a:r>
            <a:endParaRPr lang="en-IN" sz="2000" dirty="0"/>
          </a:p>
          <a:p>
            <a:pPr lvl="0">
              <a:lnSpc>
                <a:spcPct val="100000"/>
              </a:lnSpc>
            </a:pPr>
            <a:r>
              <a:rPr lang="en-IN" sz="2000" b="1" dirty="0"/>
              <a:t>Samadhan Didi</a:t>
            </a:r>
            <a:r>
              <a:rPr lang="en-IN" sz="2000" dirty="0"/>
              <a:t>, launched in May 2026, enables citizens to submit grievances through voice and uses AI-based language processing to identify the appropriate ministry, department, category, and sub-category </a:t>
            </a:r>
            <a:r>
              <a:rPr lang="en-IN" sz="2000" b="1" dirty="0"/>
              <a:t>[6].</a:t>
            </a:r>
            <a:endParaRPr lang="en-IN" sz="2000" dirty="0"/>
          </a:p>
          <a:p>
            <a:pPr lvl="0">
              <a:lnSpc>
                <a:spcPct val="100000"/>
              </a:lnSpc>
            </a:pPr>
            <a:r>
              <a:rPr lang="en-IN" sz="2000" b="1" dirty="0"/>
              <a:t>NextGen CPGRAMS</a:t>
            </a:r>
            <a:r>
              <a:rPr lang="en-IN" sz="2000" dirty="0"/>
              <a:t> is being developed with capabilities such as AI-based categorisation, intelligent routing, multilingual access, automated escalation, analytics, and AI-assisted validation of grievance redressal quality </a:t>
            </a:r>
            <a:r>
              <a:rPr lang="en-IN" sz="2000" b="1" dirty="0"/>
              <a:t>[7], [8].</a:t>
            </a:r>
            <a:endParaRPr lang="en-IN" sz="2000" dirty="0"/>
          </a:p>
          <a:p>
            <a:pPr marL="228600" indent="-228600" algn="l">
              <a:spcAft>
                <a:spcPts val="1600"/>
              </a:spcAft>
              <a:buChar char="•"/>
              <a:defRPr sz="28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endParaRPr lang="en-IN" sz="28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1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9621" y="5723124"/>
            <a:ext cx="1751379" cy="815788"/>
          </a:xfrm>
          <a:prstGeom prst="rect">
            <a:avLst/>
          </a:prstGeom>
        </p:spPr>
      </p:pic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338BA982-760C-4AD4-985A-8CE779158718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Indian Institute of Information Technology Kottayam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9785EEE8-E193-4753-96DD-E82300F420C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>
              <a:buNone/>
              <a:defRPr sz="1600">
                <a:solidFill>
                  <a:srgbClr val="898989"/>
                </a:solidFill>
                <a:latin typeface="Calibri"/>
                <a:ea typeface="Calibri"/>
                <a:cs typeface="Calibri"/>
              </a:defRPr>
            </a:pPr>
            <a:fld id="{D3D7D1C8-AE23-AA48-DF65-C742588DBE47}" type="slidenum">
              <a:rPr sz="1600">
                <a:solidFill>
                  <a:srgbClr val="898989"/>
                </a:solidFill>
                <a:latin typeface="Calibri"/>
                <a:ea typeface="Calibri"/>
                <a:cs typeface="Calibri"/>
              </a:rPr>
              <a:t>6</a:t>
            </a:fld>
            <a:endParaRPr sz="1600"/>
          </a:p>
        </p:txBody>
      </p:sp>
    </p:spTree>
    <p:extLst>
      <p:ext uri="{BB962C8B-B14F-4D97-AF65-F5344CB8AC3E}">
        <p14:creationId xmlns:p14="http://schemas.microsoft.com/office/powerpoint/2010/main" val="35351589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51A2C2-8F53-452C-B770-646B6C8990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748" y="407894"/>
            <a:ext cx="10515600" cy="1325563"/>
          </a:xfrm>
        </p:spPr>
        <p:txBody>
          <a:bodyPr>
            <a:noAutofit/>
          </a:bodyPr>
          <a:lstStyle/>
          <a:p>
            <a:pPr algn="l">
              <a:buNone/>
              <a:defRPr sz="4400" b="0" i="0">
                <a:solidFill>
                  <a:srgbClr val="000000"/>
                </a:solidFill>
                <a:latin typeface="Calibri Light"/>
                <a:ea typeface="Calibri Light"/>
                <a:cs typeface="Calibri Light"/>
              </a:defRPr>
            </a:pPr>
            <a:r>
              <a:rPr sz="3600" b="1" i="0" dirty="0">
                <a:solidFill>
                  <a:srgbClr val="000000"/>
                </a:solidFill>
                <a:latin typeface="Calibri Light"/>
                <a:ea typeface="Calibri Light"/>
                <a:cs typeface="Calibri Light"/>
              </a:rPr>
              <a:t>Motivation and Research Focus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7E1BB6-A26D-498D-A884-DE900BC1E0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4407" y="1598613"/>
            <a:ext cx="10515600" cy="4115530"/>
          </a:xfrm>
        </p:spPr>
        <p:txBody>
          <a:bodyPr lIns="91440" tIns="45720" rIns="91440" bIns="45720">
            <a:noAutofit/>
          </a:bodyPr>
          <a:lstStyle/>
          <a:p>
            <a:pPr lvl="0">
              <a:lnSpc>
                <a:spcPct val="100000"/>
              </a:lnSpc>
            </a:pPr>
            <a:r>
              <a:rPr lang="en-IN" sz="2000" b="1" dirty="0"/>
              <a:t>Research Question:</a:t>
            </a:r>
            <a:r>
              <a:rPr lang="en-IN" sz="2000" dirty="0"/>
              <a:t> How can AI assist in understanding, connecting, and evaluating civic grievances using </a:t>
            </a:r>
            <a:r>
              <a:rPr lang="en-IN" sz="2000" b="1" dirty="0"/>
              <a:t>individual issues, multimodal evidence, related reports, and resolution responses?</a:t>
            </a:r>
            <a:r>
              <a:rPr lang="en-IN" sz="2000" dirty="0"/>
              <a:t> </a:t>
            </a:r>
          </a:p>
          <a:p>
            <a:pPr lvl="0">
              <a:lnSpc>
                <a:spcPct val="100000"/>
              </a:lnSpc>
            </a:pPr>
            <a:r>
              <a:rPr lang="en-IN" sz="2000" b="1" dirty="0"/>
              <a:t>AI-Assisted Understanding:</a:t>
            </a:r>
            <a:r>
              <a:rPr lang="en-IN" sz="2000" dirty="0"/>
              <a:t> Extract individual issues, analyse text and images, identify related incidents, and support </a:t>
            </a:r>
            <a:r>
              <a:rPr lang="en-IN" sz="2000" b="1" dirty="0"/>
              <a:t>categorisation, prioritisation, and departmental routing</a:t>
            </a:r>
            <a:r>
              <a:rPr lang="en-IN" sz="2000" dirty="0"/>
              <a:t>. </a:t>
            </a:r>
          </a:p>
          <a:p>
            <a:pPr lvl="0">
              <a:lnSpc>
                <a:spcPct val="100000"/>
              </a:lnSpc>
            </a:pPr>
            <a:r>
              <a:rPr lang="en-IN" sz="2000" b="1" dirty="0"/>
              <a:t>Evidence-Aware Resolution:</a:t>
            </a:r>
            <a:r>
              <a:rPr lang="en-IN" sz="2000" dirty="0"/>
              <a:t> Connect each confirmed issue with its </a:t>
            </a:r>
            <a:r>
              <a:rPr lang="en-IN" sz="2000" b="1" dirty="0"/>
              <a:t>evidence, incident, department, work, and response</a:t>
            </a:r>
            <a:r>
              <a:rPr lang="en-IN" sz="2000" dirty="0"/>
              <a:t>, and assist in identifying whether it is </a:t>
            </a:r>
            <a:r>
              <a:rPr lang="en-IN" sz="2000" b="1" dirty="0"/>
              <a:t>addressed, partially addressed, not addressed, or unclear</a:t>
            </a:r>
            <a:r>
              <a:rPr lang="en-IN" sz="2000" dirty="0"/>
              <a:t>. </a:t>
            </a:r>
          </a:p>
          <a:p>
            <a:pPr lvl="0">
              <a:lnSpc>
                <a:spcPct val="100000"/>
              </a:lnSpc>
            </a:pPr>
            <a:r>
              <a:rPr lang="en-IN" sz="2000" b="1" dirty="0"/>
              <a:t>Evaluation &amp; Analytics:</a:t>
            </a:r>
            <a:r>
              <a:rPr lang="en-IN" sz="2000" dirty="0"/>
              <a:t> Use </a:t>
            </a:r>
            <a:r>
              <a:rPr lang="en-IN" sz="2000" b="1" dirty="0"/>
              <a:t>spatial and temporal analysis</a:t>
            </a:r>
            <a:r>
              <a:rPr lang="en-IN" sz="2000" dirty="0"/>
              <a:t> to identify recurrence and civic hotspots, and compare AI-assisted methods with simpler baselines using locally relevant data.</a:t>
            </a:r>
          </a:p>
          <a:p>
            <a:pPr marL="228600" indent="-228600" algn="l">
              <a:spcAft>
                <a:spcPts val="1600"/>
              </a:spcAft>
              <a:buChar char="•"/>
              <a:defRPr sz="28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endParaRPr sz="20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1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2421" y="0"/>
            <a:ext cx="1751379" cy="815788"/>
          </a:xfrm>
          <a:prstGeom prst="rect">
            <a:avLst/>
          </a:prstGeom>
        </p:spPr>
      </p:pic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338BA982-760C-4AD4-985A-8CE779158718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Indian Institute of Information Technology Kottayam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9785EEE8-E193-4753-96DD-E82300F420C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>
              <a:buNone/>
              <a:defRPr sz="1600">
                <a:solidFill>
                  <a:srgbClr val="898989"/>
                </a:solidFill>
                <a:latin typeface="Calibri"/>
                <a:ea typeface="Calibri"/>
                <a:cs typeface="Calibri"/>
              </a:defRPr>
            </a:pPr>
            <a:fld id="{BA58DA2A-B818-18A9-29C1-B697728D5BCE}" type="slidenum">
              <a:rPr sz="1600">
                <a:solidFill>
                  <a:srgbClr val="898989"/>
                </a:solidFill>
                <a:latin typeface="Calibri"/>
                <a:ea typeface="Calibri"/>
                <a:cs typeface="Calibri"/>
              </a:rPr>
              <a:t>7</a:t>
            </a:fld>
            <a:endParaRPr sz="1600"/>
          </a:p>
        </p:txBody>
      </p:sp>
    </p:spTree>
    <p:extLst>
      <p:ext uri="{BB962C8B-B14F-4D97-AF65-F5344CB8AC3E}">
        <p14:creationId xmlns:p14="http://schemas.microsoft.com/office/powerpoint/2010/main" val="35351589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1C1F7D-CEC8-4BCE-AEBD-1101E30C39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1857" y="62700"/>
            <a:ext cx="10515600" cy="1325563"/>
          </a:xfrm>
        </p:spPr>
        <p:txBody>
          <a:bodyPr>
            <a:noAutofit/>
          </a:bodyPr>
          <a:lstStyle/>
          <a:p>
            <a:pPr algn="l">
              <a:buNone/>
              <a:defRPr sz="4400" b="0" i="0">
                <a:solidFill>
                  <a:srgbClr val="000000"/>
                </a:solidFill>
                <a:latin typeface="Calibri Light"/>
                <a:ea typeface="Calibri Light"/>
                <a:cs typeface="Calibri Light"/>
              </a:defRPr>
            </a:pPr>
            <a:r>
              <a:rPr sz="3600" b="1" i="0" dirty="0">
                <a:solidFill>
                  <a:srgbClr val="000000"/>
                </a:solidFill>
                <a:latin typeface="Calibri Light"/>
                <a:ea typeface="Calibri Light"/>
                <a:cs typeface="Calibri Light"/>
              </a:rPr>
              <a:t>Scope of 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2C7A05-D1FA-4C06-ADEE-3520F270DD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1857" y="1230594"/>
            <a:ext cx="10515600" cy="4115530"/>
          </a:xfrm>
        </p:spPr>
        <p:txBody>
          <a:bodyPr lIns="91440" tIns="45720" rIns="91440" bIns="45720">
            <a:noAutofit/>
          </a:bodyPr>
          <a:lstStyle/>
          <a:p>
            <a:pPr lvl="0">
              <a:lnSpc>
                <a:spcPct val="100000"/>
              </a:lnSpc>
            </a:pPr>
            <a:r>
              <a:rPr lang="en-IN" sz="2000" b="1" dirty="0"/>
              <a:t>Prototype Scope:</a:t>
            </a:r>
            <a:r>
              <a:rPr lang="en-IN" sz="2000" dirty="0"/>
              <a:t> One configured municipality with selected civic categories; supports text, images, location, and voice-based reporting, with multilingual support added using validated local-language data. </a:t>
            </a:r>
          </a:p>
          <a:p>
            <a:pPr lvl="0">
              <a:lnSpc>
                <a:spcPct val="100000"/>
              </a:lnSpc>
            </a:pPr>
            <a:r>
              <a:rPr lang="en-IN" sz="2000" b="1" dirty="0"/>
              <a:t>AI-Assisted Workflow:</a:t>
            </a:r>
            <a:r>
              <a:rPr lang="en-IN" sz="2000" dirty="0"/>
              <a:t> AI supports issue extraction, text/image analysis, categorisation, prioritisation, incident linking, departmental routing, response auditing, and escalation, with officer verification. </a:t>
            </a:r>
          </a:p>
          <a:p>
            <a:pPr lvl="0">
              <a:lnSpc>
                <a:spcPct val="100000"/>
              </a:lnSpc>
            </a:pPr>
            <a:r>
              <a:rPr lang="en-IN" sz="2000" b="1" dirty="0"/>
              <a:t>Evidence &amp; Analytics:</a:t>
            </a:r>
            <a:r>
              <a:rPr lang="en-IN" sz="2000" dirty="0"/>
              <a:t> Maintain issue-level evidence and resolution records, linking issues with incidents, departments, work, responses, and status; support recurrence and hotspot analysis. </a:t>
            </a:r>
          </a:p>
          <a:p>
            <a:pPr lvl="0">
              <a:lnSpc>
                <a:spcPct val="100000"/>
              </a:lnSpc>
            </a:pPr>
            <a:r>
              <a:rPr lang="en-IN" sz="2000" b="1" dirty="0"/>
              <a:t>Evaluation &amp; Boundaries</a:t>
            </a:r>
            <a:r>
              <a:rPr lang="en-IN" sz="2000" dirty="0"/>
              <a:t>: Evaluate AI components using locally relevant data and simpler baselines. Nationwide deployment, direct government integration, forecasting, and GNN-based modelling are outside the initial prototype.</a:t>
            </a:r>
          </a:p>
          <a:p>
            <a:pPr marL="228600" indent="-228600" algn="l">
              <a:lnSpc>
                <a:spcPct val="100000"/>
              </a:lnSpc>
              <a:spcAft>
                <a:spcPts val="1600"/>
              </a:spcAft>
              <a:buChar char="•"/>
              <a:defRPr sz="28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endParaRPr sz="20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1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2421" y="0"/>
            <a:ext cx="1751379" cy="815788"/>
          </a:xfrm>
          <a:prstGeom prst="rect">
            <a:avLst/>
          </a:prstGeom>
        </p:spPr>
      </p:pic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261ED657-2E33-495A-B384-8DA6B909A365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Indian Institute of Information Technology Kottayam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71B07659-E59D-4A35-8D53-6973128270F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>
              <a:buNone/>
              <a:defRPr sz="1600">
                <a:solidFill>
                  <a:srgbClr val="898989"/>
                </a:solidFill>
                <a:latin typeface="Calibri"/>
                <a:ea typeface="Calibri"/>
                <a:cs typeface="Calibri"/>
              </a:defRPr>
            </a:pPr>
            <a:fld id="{DB7BEEEC-A170-5376-2B6E-CB54687B0CB1}" type="slidenum">
              <a:rPr sz="1600">
                <a:solidFill>
                  <a:srgbClr val="898989"/>
                </a:solidFill>
                <a:latin typeface="Calibri"/>
                <a:ea typeface="Calibri"/>
                <a:cs typeface="Calibri"/>
              </a:rPr>
              <a:t>8</a:t>
            </a:fld>
            <a:endParaRPr sz="1600"/>
          </a:p>
        </p:txBody>
      </p:sp>
    </p:spTree>
    <p:extLst>
      <p:ext uri="{BB962C8B-B14F-4D97-AF65-F5344CB8AC3E}">
        <p14:creationId xmlns:p14="http://schemas.microsoft.com/office/powerpoint/2010/main" val="33473403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1C1F7D-CEC8-4BCE-AEBD-1101E30C39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386" y="153006"/>
            <a:ext cx="10515600" cy="1325563"/>
          </a:xfrm>
        </p:spPr>
        <p:txBody>
          <a:bodyPr>
            <a:noAutofit/>
          </a:bodyPr>
          <a:lstStyle/>
          <a:p>
            <a:pPr algn="l">
              <a:buNone/>
              <a:defRPr sz="4400" b="0" i="0">
                <a:solidFill>
                  <a:srgbClr val="000000"/>
                </a:solidFill>
                <a:latin typeface="Calibri Light"/>
                <a:ea typeface="Calibri Light"/>
                <a:cs typeface="Calibri Light"/>
              </a:defRPr>
            </a:pPr>
            <a:r>
              <a:rPr sz="3600" b="1" i="0" dirty="0">
                <a:solidFill>
                  <a:srgbClr val="000000"/>
                </a:solidFill>
                <a:latin typeface="Calibri Light"/>
                <a:ea typeface="Calibri Light"/>
                <a:cs typeface="Calibri Light"/>
              </a:rPr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2C7A05-D1FA-4C06-ADEE-3520F270DD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5386" y="1371235"/>
            <a:ext cx="10515600" cy="4115530"/>
          </a:xfrm>
        </p:spPr>
        <p:txBody>
          <a:bodyPr lIns="91440" tIns="45720" rIns="91440" bIns="45720">
            <a:noAutofit/>
          </a:bodyPr>
          <a:lstStyle/>
          <a:p>
            <a:pPr lvl="0">
              <a:lnSpc>
                <a:spcPct val="100000"/>
              </a:lnSpc>
            </a:pPr>
            <a:r>
              <a:rPr lang="en-IN" sz="2000" dirty="0"/>
              <a:t>A single municipal complaint may contain multiple issues involving different departments, while multiple citizens may report the same underlying incident, making issue identification and responsibility assignment difficult. </a:t>
            </a:r>
          </a:p>
          <a:p>
            <a:pPr lvl="0">
              <a:lnSpc>
                <a:spcPct val="100000"/>
              </a:lnSpc>
            </a:pPr>
            <a:r>
              <a:rPr lang="en-IN" sz="2000" dirty="0"/>
              <a:t>Similar reports may represent the same incident, a different incident, or a recurrence after resolution; therefore, simple duplicate detection is insufficient. </a:t>
            </a:r>
          </a:p>
          <a:p>
            <a:pPr lvl="0">
              <a:lnSpc>
                <a:spcPct val="100000"/>
              </a:lnSpc>
            </a:pPr>
            <a:r>
              <a:rPr lang="en-IN" sz="2000" dirty="0"/>
              <a:t>Evidence, actions, and responses are difficult to trace to individual issues, making it challenging to determine whether every reported issue has been adequately addressed. </a:t>
            </a:r>
          </a:p>
          <a:p>
            <a:pPr lvl="0">
              <a:lnSpc>
                <a:spcPct val="100000"/>
              </a:lnSpc>
            </a:pPr>
            <a:r>
              <a:rPr lang="en-IN" sz="2000" dirty="0"/>
              <a:t>A unified, evidence-aware workflow is needed to connect individual issues with their evidence, incidents, responsible departments, actions, responses, and resolution</a:t>
            </a:r>
            <a:r>
              <a:rPr lang="en-IN" sz="2400" dirty="0"/>
              <a:t>.</a:t>
            </a:r>
          </a:p>
          <a:p>
            <a:pPr marL="228600" indent="-228600" algn="l">
              <a:spcAft>
                <a:spcPts val="1600"/>
              </a:spcAft>
              <a:buChar char="•"/>
              <a:defRPr sz="28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endParaRPr sz="24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1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2421" y="0"/>
            <a:ext cx="1751379" cy="815788"/>
          </a:xfrm>
          <a:prstGeom prst="rect">
            <a:avLst/>
          </a:prstGeom>
        </p:spPr>
      </p:pic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261ED657-2E33-495A-B384-8DA6B909A365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Indian Institute of Information Technology Kottayam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71B07659-E59D-4A35-8D53-6973128270F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>
              <a:buNone/>
              <a:defRPr sz="1600">
                <a:solidFill>
                  <a:srgbClr val="898989"/>
                </a:solidFill>
                <a:latin typeface="Calibri"/>
                <a:ea typeface="Calibri"/>
                <a:cs typeface="Calibri"/>
              </a:defRPr>
            </a:pPr>
            <a:fld id="{388657AE-30A1-5A7A-6A7F-315D84436430}" type="slidenum">
              <a:rPr sz="1600">
                <a:solidFill>
                  <a:srgbClr val="898989"/>
                </a:solidFill>
                <a:latin typeface="Calibri"/>
                <a:ea typeface="Calibri"/>
                <a:cs typeface="Calibri"/>
              </a:rPr>
              <a:t>9</a:t>
            </a:fld>
            <a:endParaRPr sz="1600"/>
          </a:p>
        </p:txBody>
      </p:sp>
    </p:spTree>
    <p:extLst>
      <p:ext uri="{BB962C8B-B14F-4D97-AF65-F5344CB8AC3E}">
        <p14:creationId xmlns:p14="http://schemas.microsoft.com/office/powerpoint/2010/main" val="33473403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D82FC589-D637-43D0-D040-F7446DC7AF5D}"/>
              </a:ext>
            </a:extLst>
          </p:cNvPr>
          <p:cNvSpPr txBox="1"/>
          <p:nvPr/>
        </p:nvSpPr>
        <p:spPr>
          <a:xfrm>
            <a:off x="9743768" y="5357063"/>
            <a:ext cx="2448232" cy="369332"/>
          </a:xfrm>
          <a:prstGeom prst="rect">
            <a:avLst/>
          </a:prstGeom>
          <a:solidFill>
            <a:schemeClr val="bg1"/>
          </a:solidFill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9FFFA15-42CA-8119-2FD5-52D36595DD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810"/>
            <a:ext cx="12192000" cy="68503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35379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3D145-3730-437B-AD54-26DB6A651E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661" y="80450"/>
            <a:ext cx="10515600" cy="1325563"/>
          </a:xfrm>
        </p:spPr>
        <p:txBody>
          <a:bodyPr>
            <a:noAutofit/>
          </a:bodyPr>
          <a:lstStyle/>
          <a:p>
            <a:pPr algn="l">
              <a:buNone/>
              <a:defRPr sz="4400" b="0" i="0">
                <a:solidFill>
                  <a:srgbClr val="000000"/>
                </a:solidFill>
                <a:latin typeface="Calibri Light"/>
                <a:ea typeface="Calibri Light"/>
                <a:cs typeface="Calibri Light"/>
              </a:defRPr>
            </a:pPr>
            <a:r>
              <a:rPr sz="3600" b="1" i="0" dirty="0">
                <a:solidFill>
                  <a:srgbClr val="000000"/>
                </a:solidFill>
                <a:latin typeface="Calibri Light"/>
                <a:ea typeface="Calibri Light"/>
                <a:cs typeface="Calibri Light"/>
              </a:rPr>
              <a:t>Architecture: Processing Flow</a:t>
            </a:r>
          </a:p>
        </p:txBody>
      </p:sp>
      <p:pic>
        <p:nvPicPr>
          <p:cNvPr id="148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2421" y="0"/>
            <a:ext cx="1751379" cy="815788"/>
          </a:xfrm>
          <a:prstGeom prst="rect">
            <a:avLst/>
          </a:prstGeom>
        </p:spPr>
      </p:pic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8AB4852-5DAC-49DF-86F3-2BB78C44CE86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Indian Institute of Information Technology Kottayam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08CB720-F236-452B-BB58-9BF0AEE75ED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>
              <a:buNone/>
              <a:defRPr sz="1600">
                <a:solidFill>
                  <a:srgbClr val="898989"/>
                </a:solidFill>
                <a:latin typeface="Calibri"/>
                <a:ea typeface="Calibri"/>
                <a:cs typeface="Calibri"/>
              </a:defRPr>
            </a:pPr>
            <a:fld id="{2DD23107-4986-8758-3A93-3D74F35908CC}" type="slidenum">
              <a:rPr sz="1600">
                <a:solidFill>
                  <a:srgbClr val="898989"/>
                </a:solidFill>
                <a:latin typeface="Calibri"/>
                <a:ea typeface="Calibri"/>
                <a:cs typeface="Calibri"/>
              </a:rPr>
              <a:t>11</a:t>
            </a:fld>
            <a:endParaRPr sz="1600"/>
          </a:p>
        </p:txBody>
      </p:sp>
      <p:sp>
        <p:nvSpPr>
          <p:cNvPr id="39" name="1  Register complaint">
            <a:extLst>
              <a:ext uri="{FF2B5EF4-FFF2-40B4-BE49-F238E27FC236}">
                <a16:creationId xmlns:a16="http://schemas.microsoft.com/office/drawing/2014/main" id="{274655D4-5BF2-4585-8EE5-61FE610965BF}"/>
              </a:ext>
            </a:extLst>
          </p:cNvPr>
          <p:cNvSpPr>
            <a:spLocks noGrp="1"/>
          </p:cNvSpPr>
          <p:nvPr/>
        </p:nvSpPr>
        <p:spPr>
          <a:xfrm>
            <a:off x="933450" y="1406013"/>
            <a:ext cx="2952750" cy="1899162"/>
          </a:xfrm>
          <a:prstGeom prst="rect">
            <a:avLst/>
          </a:prstGeom>
          <a:solidFill>
            <a:srgbClr val="FFFFFF"/>
          </a:solidFill>
          <a:ln w="11430">
            <a:solidFill>
              <a:srgbClr val="000000"/>
            </a:solidFill>
          </a:ln>
        </p:spPr>
        <p:txBody>
          <a:bodyPr lIns="85725" tIns="76200" rIns="85725" bIns="76200" anchor="ctr">
            <a:noAutofit/>
          </a:bodyPr>
          <a:lstStyle/>
          <a:p>
            <a:pPr algn="ctr">
              <a:spcAft>
                <a:spcPts val="450"/>
              </a:spcAft>
              <a:buNone/>
              <a:defRPr sz="18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800" b="1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1  Register complaint</a:t>
            </a:r>
            <a:endParaRPr lang="en-IN" sz="1800" b="1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algn="ctr">
              <a:spcAft>
                <a:spcPts val="0"/>
              </a:spcAft>
              <a:buNone/>
              <a:defRPr sz="18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lang="en-IN" dirty="0">
                <a:solidFill>
                  <a:srgbClr val="000000"/>
                </a:solidFill>
                <a:latin typeface="Calibri"/>
              </a:rPr>
              <a:t>Citizen submits text, image, location and planned voice input. Validate access, save complaint and return tracking ID.</a:t>
            </a:r>
            <a:endParaRPr lang="en-US" sz="18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0" name="2  Run background jobs">
            <a:extLst>
              <a:ext uri="{FF2B5EF4-FFF2-40B4-BE49-F238E27FC236}">
                <a16:creationId xmlns:a16="http://schemas.microsoft.com/office/drawing/2014/main" id="{A507B797-A170-4D48-896C-5BD80B326943}"/>
              </a:ext>
            </a:extLst>
          </p:cNvPr>
          <p:cNvSpPr>
            <a:spLocks noGrp="1"/>
          </p:cNvSpPr>
          <p:nvPr/>
        </p:nvSpPr>
        <p:spPr>
          <a:xfrm>
            <a:off x="4619625" y="1406013"/>
            <a:ext cx="2952750" cy="1899162"/>
          </a:xfrm>
          <a:prstGeom prst="rect">
            <a:avLst/>
          </a:prstGeom>
          <a:solidFill>
            <a:srgbClr val="FFFFFF"/>
          </a:solidFill>
          <a:ln w="11430">
            <a:solidFill>
              <a:srgbClr val="000000"/>
            </a:solidFill>
          </a:ln>
        </p:spPr>
        <p:txBody>
          <a:bodyPr lIns="85725" tIns="76200" rIns="85725" bIns="76200" anchor="ctr">
            <a:noAutofit/>
          </a:bodyPr>
          <a:lstStyle/>
          <a:p>
            <a:r>
              <a:rPr lang="en-IN" b="1" dirty="0"/>
              <a:t>  2 AI-Assisted Processing</a:t>
            </a:r>
          </a:p>
          <a:p>
            <a:r>
              <a:rPr lang="en-IN" dirty="0"/>
              <a:t> Background AI analyses the   complaint and evidence.</a:t>
            </a:r>
            <a:br>
              <a:rPr lang="en-IN" dirty="0"/>
            </a:br>
            <a:r>
              <a:rPr lang="en-IN" dirty="0"/>
              <a:t>Extract issues, predict categories, analyse images and identify related incidents.</a:t>
            </a:r>
          </a:p>
        </p:txBody>
      </p:sp>
      <p:sp>
        <p:nvSpPr>
          <p:cNvPr id="41" name="3  Store suggestions">
            <a:extLst>
              <a:ext uri="{FF2B5EF4-FFF2-40B4-BE49-F238E27FC236}">
                <a16:creationId xmlns:a16="http://schemas.microsoft.com/office/drawing/2014/main" id="{9FB1291C-F509-439E-81E6-7FBAE741D798}"/>
              </a:ext>
            </a:extLst>
          </p:cNvPr>
          <p:cNvSpPr>
            <a:spLocks noGrp="1"/>
          </p:cNvSpPr>
          <p:nvPr/>
        </p:nvSpPr>
        <p:spPr>
          <a:xfrm>
            <a:off x="8305800" y="1406013"/>
            <a:ext cx="2952750" cy="1899162"/>
          </a:xfrm>
          <a:prstGeom prst="rect">
            <a:avLst/>
          </a:prstGeom>
          <a:solidFill>
            <a:srgbClr val="FFFFFF"/>
          </a:solidFill>
          <a:ln w="11430">
            <a:solidFill>
              <a:srgbClr val="000000"/>
            </a:solidFill>
          </a:ln>
        </p:spPr>
        <p:txBody>
          <a:bodyPr lIns="85725" tIns="76200" rIns="85725" bIns="76200" anchor="ctr">
            <a:noAutofit/>
          </a:bodyPr>
          <a:lstStyle/>
          <a:p>
            <a:r>
              <a:rPr lang="en-IN" b="1" dirty="0"/>
              <a:t>  3 Store &amp; Link Evidence</a:t>
            </a:r>
          </a:p>
          <a:p>
            <a:r>
              <a:rPr lang="en-IN" dirty="0"/>
              <a:t>Save versioned AI suggestions and source information.</a:t>
            </a:r>
            <a:br>
              <a:rPr lang="en-IN" dirty="0"/>
            </a:br>
            <a:r>
              <a:rPr lang="en-IN" dirty="0"/>
              <a:t>Maintain links between issues, evidence, incidents, locations and audit history</a:t>
            </a:r>
          </a:p>
        </p:txBody>
      </p:sp>
      <p:sp>
        <p:nvSpPr>
          <p:cNvPr id="42" name="4  Confirm and assign">
            <a:extLst>
              <a:ext uri="{FF2B5EF4-FFF2-40B4-BE49-F238E27FC236}">
                <a16:creationId xmlns:a16="http://schemas.microsoft.com/office/drawing/2014/main" id="{17AC435B-724E-46F5-914B-506D3316C8AA}"/>
              </a:ext>
            </a:extLst>
          </p:cNvPr>
          <p:cNvSpPr>
            <a:spLocks noGrp="1"/>
          </p:cNvSpPr>
          <p:nvPr/>
        </p:nvSpPr>
        <p:spPr>
          <a:xfrm>
            <a:off x="8305800" y="4305300"/>
            <a:ext cx="2952750" cy="1352550"/>
          </a:xfrm>
          <a:prstGeom prst="rect">
            <a:avLst/>
          </a:prstGeom>
          <a:solidFill>
            <a:srgbClr val="FFFFFF"/>
          </a:solidFill>
          <a:ln w="11430">
            <a:solidFill>
              <a:srgbClr val="000000"/>
            </a:solidFill>
          </a:ln>
        </p:spPr>
        <p:txBody>
          <a:bodyPr lIns="85725" tIns="76200" rIns="85725" bIns="76200" anchor="ctr">
            <a:noAutofit/>
          </a:bodyPr>
          <a:lstStyle/>
          <a:p>
            <a:pPr algn="ctr">
              <a:spcAft>
                <a:spcPts val="450"/>
              </a:spcAft>
              <a:buNone/>
              <a:defRPr sz="18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4  Confirm and assign</a:t>
            </a:r>
          </a:p>
          <a:p>
            <a:pPr algn="ctr">
              <a:spcAft>
                <a:spcPts val="0"/>
              </a:spcAft>
              <a:buNone/>
              <a:defRPr sz="18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GRO reviews issues and routing
Supervisors assign field work</a:t>
            </a:r>
          </a:p>
        </p:txBody>
      </p:sp>
      <p:sp>
        <p:nvSpPr>
          <p:cNvPr id="43" name="5  Submit work response">
            <a:extLst>
              <a:ext uri="{FF2B5EF4-FFF2-40B4-BE49-F238E27FC236}">
                <a16:creationId xmlns:a16="http://schemas.microsoft.com/office/drawing/2014/main" id="{DACF0AD9-00C7-4830-99E6-CEB1303B3AD4}"/>
              </a:ext>
            </a:extLst>
          </p:cNvPr>
          <p:cNvSpPr>
            <a:spLocks noGrp="1"/>
          </p:cNvSpPr>
          <p:nvPr/>
        </p:nvSpPr>
        <p:spPr>
          <a:xfrm>
            <a:off x="4619625" y="4305300"/>
            <a:ext cx="2952750" cy="1352550"/>
          </a:xfrm>
          <a:prstGeom prst="rect">
            <a:avLst/>
          </a:prstGeom>
          <a:solidFill>
            <a:srgbClr val="FFFFFF"/>
          </a:solidFill>
          <a:ln w="11430">
            <a:solidFill>
              <a:srgbClr val="000000"/>
            </a:solidFill>
          </a:ln>
        </p:spPr>
        <p:txBody>
          <a:bodyPr lIns="85725" tIns="76200" rIns="85725" bIns="76200" anchor="ctr">
            <a:noAutofit/>
          </a:bodyPr>
          <a:lstStyle/>
          <a:p>
            <a:pPr algn="ctr">
              <a:spcAft>
                <a:spcPts val="450"/>
              </a:spcAft>
              <a:buNone/>
              <a:defRPr sz="18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5  Submit work response</a:t>
            </a:r>
          </a:p>
          <a:p>
            <a:pPr algn="ctr">
              <a:spcAft>
                <a:spcPts val="0"/>
              </a:spcAft>
              <a:buNone/>
              <a:defRPr sz="18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Teams add actions and evidence
GRO consolidates the reply</a:t>
            </a:r>
          </a:p>
        </p:txBody>
      </p:sp>
      <p:sp>
        <p:nvSpPr>
          <p:cNvPr id="44" name="6  Review and decide">
            <a:extLst>
              <a:ext uri="{FF2B5EF4-FFF2-40B4-BE49-F238E27FC236}">
                <a16:creationId xmlns:a16="http://schemas.microsoft.com/office/drawing/2014/main" id="{9FA55ABD-F193-4B4D-A3AF-D161CE258412}"/>
              </a:ext>
            </a:extLst>
          </p:cNvPr>
          <p:cNvSpPr>
            <a:spLocks noGrp="1"/>
          </p:cNvSpPr>
          <p:nvPr/>
        </p:nvSpPr>
        <p:spPr>
          <a:xfrm>
            <a:off x="933450" y="4305300"/>
            <a:ext cx="2952750" cy="1352550"/>
          </a:xfrm>
          <a:prstGeom prst="rect">
            <a:avLst/>
          </a:prstGeom>
          <a:solidFill>
            <a:srgbClr val="FFFFFF"/>
          </a:solidFill>
          <a:ln w="11430">
            <a:solidFill>
              <a:srgbClr val="000000"/>
            </a:solidFill>
          </a:ln>
        </p:spPr>
        <p:txBody>
          <a:bodyPr lIns="85725" tIns="76200" rIns="85725" bIns="76200" anchor="ctr">
            <a:noAutofit/>
          </a:bodyPr>
          <a:lstStyle/>
          <a:p>
            <a:pPr algn="ctr">
              <a:spcAft>
                <a:spcPts val="450"/>
              </a:spcAft>
              <a:buNone/>
              <a:defRPr sz="18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6  Review and decide</a:t>
            </a:r>
          </a:p>
          <a:p>
            <a:pPr algn="ctr">
              <a:spcAft>
                <a:spcPts val="0"/>
              </a:spcAft>
              <a:buNone/>
              <a:defRPr sz="18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AI checks issue coverage
Officer decides, citizen may appeal</a:t>
            </a:r>
          </a:p>
        </p:txBody>
      </p:sp>
      <p:cxnSp>
        <p:nvCxnSpPr>
          <p:cNvPr id="157" name="Straight Arrow Connector 156"/>
          <p:cNvCxnSpPr>
            <a:cxnSpLocks/>
            <a:stCxn id="39" idx="3"/>
            <a:endCxn id="40" idx="1"/>
          </p:cNvCxnSpPr>
          <p:nvPr/>
        </p:nvCxnSpPr>
        <p:spPr>
          <a:xfrm>
            <a:off x="3886200" y="2355594"/>
            <a:ext cx="733425" cy="0"/>
          </a:xfrm>
          <a:prstGeom prst="straightConnector1">
            <a:avLst/>
          </a:prstGeom>
          <a:ln w="12383">
            <a:solidFill>
              <a:srgbClr val="000000"/>
            </a:solidFill>
            <a:tailEnd type="triangle" w="sm" len="sm"/>
          </a:ln>
        </p:spPr>
      </p:cxnSp>
      <p:cxnSp>
        <p:nvCxnSpPr>
          <p:cNvPr id="158" name="Straight Arrow Connector 157"/>
          <p:cNvCxnSpPr>
            <a:cxnSpLocks/>
            <a:stCxn id="40" idx="3"/>
            <a:endCxn id="41" idx="1"/>
          </p:cNvCxnSpPr>
          <p:nvPr/>
        </p:nvCxnSpPr>
        <p:spPr>
          <a:xfrm>
            <a:off x="7572375" y="2355594"/>
            <a:ext cx="733425" cy="0"/>
          </a:xfrm>
          <a:prstGeom prst="straightConnector1">
            <a:avLst/>
          </a:prstGeom>
          <a:ln w="12383">
            <a:solidFill>
              <a:srgbClr val="000000"/>
            </a:solidFill>
            <a:tailEnd type="triangle" w="sm" len="sm"/>
          </a:ln>
        </p:spPr>
      </p:cxnSp>
      <p:cxnSp>
        <p:nvCxnSpPr>
          <p:cNvPr id="159" name="Straight Arrow Connector 158"/>
          <p:cNvCxnSpPr>
            <a:cxnSpLocks/>
            <a:stCxn id="41" idx="2"/>
            <a:endCxn id="42" idx="0"/>
          </p:cNvCxnSpPr>
          <p:nvPr/>
        </p:nvCxnSpPr>
        <p:spPr>
          <a:xfrm>
            <a:off x="9782175" y="3305175"/>
            <a:ext cx="0" cy="1000125"/>
          </a:xfrm>
          <a:prstGeom prst="straightConnector1">
            <a:avLst/>
          </a:prstGeom>
          <a:ln w="12383">
            <a:solidFill>
              <a:srgbClr val="000000"/>
            </a:solidFill>
            <a:tailEnd type="triangle" w="sm" len="sm"/>
          </a:ln>
        </p:spPr>
      </p:cxnSp>
      <p:cxnSp>
        <p:nvCxnSpPr>
          <p:cNvPr id="160" name="Straight Arrow Connector 159"/>
          <p:cNvCxnSpPr>
            <a:stCxn id="42" idx="1"/>
            <a:endCxn id="43" idx="3"/>
          </p:cNvCxnSpPr>
          <p:nvPr/>
        </p:nvCxnSpPr>
        <p:spPr>
          <a:xfrm flipH="1">
            <a:off x="7572375" y="4981575"/>
            <a:ext cx="733425" cy="0"/>
          </a:xfrm>
          <a:prstGeom prst="straightConnector1">
            <a:avLst/>
          </a:prstGeom>
          <a:ln w="12383">
            <a:solidFill>
              <a:srgbClr val="000000"/>
            </a:solidFill>
            <a:tailEnd type="triangle" w="sm" len="sm"/>
          </a:ln>
        </p:spPr>
      </p:cxnSp>
      <p:cxnSp>
        <p:nvCxnSpPr>
          <p:cNvPr id="161" name="Straight Arrow Connector 160"/>
          <p:cNvCxnSpPr>
            <a:stCxn id="43" idx="1"/>
            <a:endCxn id="44" idx="3"/>
          </p:cNvCxnSpPr>
          <p:nvPr/>
        </p:nvCxnSpPr>
        <p:spPr>
          <a:xfrm flipH="1">
            <a:off x="3886200" y="4981575"/>
            <a:ext cx="733425" cy="0"/>
          </a:xfrm>
          <a:prstGeom prst="straightConnector1">
            <a:avLst/>
          </a:prstGeom>
          <a:ln w="12383">
            <a:solidFill>
              <a:srgbClr val="000000"/>
            </a:solidFill>
            <a:tailEnd type="triangle" w="sm" len="sm"/>
          </a:ln>
        </p:spPr>
      </p:cxnSp>
      <p:sp>
        <p:nvSpPr>
          <p:cNvPr id="50" name="AI suggests. Officers confirm. Manual review remains available i">
            <a:extLst>
              <a:ext uri="{FF2B5EF4-FFF2-40B4-BE49-F238E27FC236}">
                <a16:creationId xmlns:a16="http://schemas.microsoft.com/office/drawing/2014/main" id="{1A2BA6D1-49CB-43FC-8EA9-3DA069CBDFBF}"/>
              </a:ext>
            </a:extLst>
          </p:cNvPr>
          <p:cNvSpPr>
            <a:spLocks noGrp="1"/>
          </p:cNvSpPr>
          <p:nvPr/>
        </p:nvSpPr>
        <p:spPr>
          <a:xfrm>
            <a:off x="933450" y="5915025"/>
            <a:ext cx="103251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  <a:defRPr sz="19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AI suggests. Officers confirm. Manual review remains available if a model fails.</a:t>
            </a:r>
          </a:p>
        </p:txBody>
      </p:sp>
    </p:spTree>
    <p:extLst>
      <p:ext uri="{BB962C8B-B14F-4D97-AF65-F5344CB8AC3E}">
        <p14:creationId xmlns:p14="http://schemas.microsoft.com/office/powerpoint/2010/main" val="14627022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1C1F7D-CEC8-4BCE-AEBD-1101E30C39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385" y="254063"/>
            <a:ext cx="10515600" cy="1325563"/>
          </a:xfrm>
        </p:spPr>
        <p:txBody>
          <a:bodyPr>
            <a:noAutofit/>
          </a:bodyPr>
          <a:lstStyle/>
          <a:p>
            <a:pPr algn="l">
              <a:buNone/>
              <a:defRPr sz="4400" b="0" i="0">
                <a:solidFill>
                  <a:srgbClr val="000000"/>
                </a:solidFill>
                <a:latin typeface="Calibri Light"/>
                <a:ea typeface="Calibri Light"/>
                <a:cs typeface="Calibri Light"/>
              </a:defRPr>
            </a:pPr>
            <a:r>
              <a:rPr sz="3600" b="1" i="0" dirty="0">
                <a:solidFill>
                  <a:srgbClr val="000000"/>
                </a:solidFill>
                <a:latin typeface="Calibri Light"/>
                <a:ea typeface="Calibri Light"/>
                <a:cs typeface="Calibri Light"/>
              </a:rPr>
              <a:t>Technology Choices: Why This Stack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2C7A05-D1FA-4C06-ADEE-3520F270DD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9385" y="1476982"/>
            <a:ext cx="10515600" cy="4115530"/>
          </a:xfrm>
        </p:spPr>
        <p:txBody>
          <a:bodyPr lIns="91440" tIns="45720" rIns="91440" bIns="45720">
            <a:noAutofit/>
          </a:bodyPr>
          <a:lstStyle/>
          <a:p>
            <a:pPr lvl="0">
              <a:lnSpc>
                <a:spcPct val="100000"/>
              </a:lnSpc>
            </a:pPr>
            <a:r>
              <a:rPr lang="en-IN" sz="2000" b="1" dirty="0"/>
              <a:t>React Native + Next.js:</a:t>
            </a:r>
            <a:r>
              <a:rPr lang="en-IN" sz="2000" dirty="0"/>
              <a:t> Shared TypeScript development for citizen and officer apps/web, with a mobile app for field workers and a web dashboard for senior authorities. </a:t>
            </a:r>
          </a:p>
          <a:p>
            <a:pPr lvl="0">
              <a:lnSpc>
                <a:spcPct val="100000"/>
              </a:lnSpc>
            </a:pPr>
            <a:r>
              <a:rPr lang="en-IN" sz="2000" b="1" dirty="0" err="1"/>
              <a:t>FastAPI</a:t>
            </a:r>
            <a:r>
              <a:rPr lang="en-IN" sz="2000" b="1" dirty="0"/>
              <a:t> + Python:</a:t>
            </a:r>
            <a:r>
              <a:rPr lang="en-IN" sz="2000" dirty="0"/>
              <a:t> A single modular backend for authentication, role-based access, workflow management, and AI/ML integration. </a:t>
            </a:r>
          </a:p>
          <a:p>
            <a:pPr lvl="0">
              <a:lnSpc>
                <a:spcPct val="100000"/>
              </a:lnSpc>
            </a:pPr>
            <a:r>
              <a:rPr lang="en-IN" sz="2000" b="1" dirty="0"/>
              <a:t>IndicBERTv2 + </a:t>
            </a:r>
            <a:r>
              <a:rPr lang="en-IN" sz="2000" b="1" dirty="0" err="1"/>
              <a:t>MiniLM</a:t>
            </a:r>
            <a:r>
              <a:rPr lang="en-IN" sz="2000" b="1" dirty="0"/>
              <a:t> + EfficientNet-B0:</a:t>
            </a:r>
            <a:r>
              <a:rPr lang="en-IN" sz="2000" dirty="0"/>
              <a:t> Support issue extraction, semantic retrieval and related-report matching, and civic image analysis. </a:t>
            </a:r>
          </a:p>
          <a:p>
            <a:pPr lvl="0">
              <a:lnSpc>
                <a:spcPct val="100000"/>
              </a:lnSpc>
            </a:pPr>
            <a:r>
              <a:rPr lang="en-IN" sz="2000" b="1" dirty="0"/>
              <a:t>PostgreSQL + </a:t>
            </a:r>
            <a:r>
              <a:rPr lang="en-IN" sz="2000" b="1" dirty="0" err="1"/>
              <a:t>PostGIS</a:t>
            </a:r>
            <a:r>
              <a:rPr lang="en-IN" sz="2000" b="1" dirty="0"/>
              <a:t> + </a:t>
            </a:r>
            <a:r>
              <a:rPr lang="en-IN" sz="2000" b="1" dirty="0" err="1"/>
              <a:t>pgvector</a:t>
            </a:r>
            <a:r>
              <a:rPr lang="en-IN" sz="2000" b="1" dirty="0"/>
              <a:t>:</a:t>
            </a:r>
            <a:r>
              <a:rPr lang="en-IN" sz="2000" dirty="0"/>
              <a:t> Manage workflow records, spatial data and semantic embeddings, enabling geographic matching, hotspot analysis and similarity retrieval. S3-compatible storage stores evidence. </a:t>
            </a:r>
          </a:p>
          <a:p>
            <a:pPr lvl="0">
              <a:lnSpc>
                <a:spcPct val="100000"/>
              </a:lnSpc>
            </a:pPr>
            <a:r>
              <a:rPr lang="en-IN" sz="2000" b="1" dirty="0"/>
              <a:t>Redis + Celery + Docker + </a:t>
            </a:r>
            <a:r>
              <a:rPr lang="en-IN" sz="2000" b="1" dirty="0" err="1"/>
              <a:t>Vercel</a:t>
            </a:r>
            <a:r>
              <a:rPr lang="en-IN" sz="2000" b="1" dirty="0"/>
              <a:t>/Railway:</a:t>
            </a:r>
            <a:r>
              <a:rPr lang="en-IN" sz="2000" dirty="0"/>
              <a:t> Enable background processing and reproducible deployment, with </a:t>
            </a:r>
            <a:r>
              <a:rPr lang="en-IN" sz="2000" dirty="0" err="1"/>
              <a:t>Vercel</a:t>
            </a:r>
            <a:r>
              <a:rPr lang="en-IN" sz="2000" dirty="0"/>
              <a:t> for web applications and Railway for backend services.</a:t>
            </a:r>
          </a:p>
          <a:p>
            <a:pPr marL="228600" indent="-228600" algn="l">
              <a:spcAft>
                <a:spcPts val="1600"/>
              </a:spcAft>
              <a:buChar char="•"/>
              <a:defRPr sz="28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endParaRPr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1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2421" y="0"/>
            <a:ext cx="1751379" cy="815788"/>
          </a:xfrm>
          <a:prstGeom prst="rect">
            <a:avLst/>
          </a:prstGeom>
        </p:spPr>
      </p:pic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261ED657-2E33-495A-B384-8DA6B909A365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Indian Institute of Information Technology Kottayam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71B07659-E59D-4A35-8D53-6973128270F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>
              <a:buNone/>
              <a:defRPr sz="1600">
                <a:solidFill>
                  <a:srgbClr val="898989"/>
                </a:solidFill>
                <a:latin typeface="Calibri"/>
                <a:ea typeface="Calibri"/>
                <a:cs typeface="Calibri"/>
              </a:defRPr>
            </a:pPr>
            <a:fld id="{327921A4-25C4-3DB4-06B1-32693CEE2241}" type="slidenum">
              <a:rPr sz="1600">
                <a:solidFill>
                  <a:srgbClr val="898989"/>
                </a:solidFill>
                <a:latin typeface="Calibri"/>
                <a:ea typeface="Calibri"/>
                <a:cs typeface="Calibri"/>
              </a:rPr>
              <a:t>12</a:t>
            </a:fld>
            <a:endParaRPr sz="1600"/>
          </a:p>
        </p:txBody>
      </p:sp>
    </p:spTree>
    <p:extLst>
      <p:ext uri="{BB962C8B-B14F-4D97-AF65-F5344CB8AC3E}">
        <p14:creationId xmlns:p14="http://schemas.microsoft.com/office/powerpoint/2010/main" val="33473403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506C350-EFCE-43A1-5491-D2633CC049EE}"/>
              </a:ext>
            </a:extLst>
          </p:cNvPr>
          <p:cNvSpPr txBox="1"/>
          <p:nvPr/>
        </p:nvSpPr>
        <p:spPr>
          <a:xfrm>
            <a:off x="265470" y="493759"/>
            <a:ext cx="866221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dirty="0"/>
              <a:t>Methodology: AI Models &amp; Evidence Analysis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69FAF0F-36B3-0A4A-3FB9-C6F3A336D3E9}"/>
              </a:ext>
            </a:extLst>
          </p:cNvPr>
          <p:cNvSpPr txBox="1"/>
          <p:nvPr/>
        </p:nvSpPr>
        <p:spPr>
          <a:xfrm>
            <a:off x="412954" y="1265928"/>
            <a:ext cx="9114504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000" b="1" dirty="0"/>
              <a:t>Text Understanding</a:t>
            </a:r>
            <a:endParaRPr lang="en-IN" sz="20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Category Prediction:</a:t>
            </a:r>
            <a:r>
              <a:rPr lang="en-IN" sz="2000" dirty="0"/>
              <a:t> TF-IDF + One-vs-Rest Logistic Regression as baseline;  IndicBERTv2 for supervised prediction.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Issue Extraction:</a:t>
            </a:r>
            <a:r>
              <a:rPr lang="en-IN" sz="2000" dirty="0"/>
              <a:t> IndicBERTv2 + BIO tagging to identify individual issues.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Related Retrieval:</a:t>
            </a:r>
            <a:r>
              <a:rPr lang="en-IN" sz="2000" dirty="0"/>
              <a:t> Multilingual </a:t>
            </a:r>
            <a:r>
              <a:rPr lang="en-IN" sz="2000" dirty="0" err="1"/>
              <a:t>MiniLM</a:t>
            </a:r>
            <a:r>
              <a:rPr lang="en-IN" sz="2000" dirty="0"/>
              <a:t> for semantic similarity and candidate retrieval. </a:t>
            </a:r>
          </a:p>
          <a:p>
            <a:pPr lvl="0"/>
            <a:endParaRPr lang="en-IN" sz="2000" dirty="0"/>
          </a:p>
          <a:p>
            <a:pPr>
              <a:buNone/>
            </a:pPr>
            <a:r>
              <a:rPr lang="en-IN" sz="2000" b="1" dirty="0"/>
              <a:t>Image &amp; Evidence Analysis</a:t>
            </a:r>
            <a:endParaRPr lang="en-IN" sz="20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Image Classification:</a:t>
            </a:r>
            <a:r>
              <a:rPr lang="en-IN" sz="2000" dirty="0"/>
              <a:t> EfficientNet-B0 with transfer learning for visible civic issue categories.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Evidence Relevance:</a:t>
            </a:r>
            <a:r>
              <a:rPr lang="en-IN" sz="2000" dirty="0"/>
              <a:t> Compare image evidence with complaint/issue context.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Evidence Concerns:</a:t>
            </a:r>
            <a:r>
              <a:rPr lang="en-IN" sz="2000" dirty="0"/>
              <a:t> Flag potential reuse or synthetic-risk cases for review. </a:t>
            </a:r>
          </a:p>
          <a:p>
            <a:pPr lvl="0"/>
            <a:endParaRPr lang="en-IN" sz="2000" dirty="0"/>
          </a:p>
          <a:p>
            <a:pPr>
              <a:buNone/>
            </a:pPr>
            <a:r>
              <a:rPr lang="en-IN" sz="2000" b="1" dirty="0"/>
              <a:t>Human Review</a:t>
            </a:r>
            <a:endParaRPr lang="en-IN" sz="20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Officers validate AI suggestions and confirm evidence relevance</a:t>
            </a:r>
          </a:p>
        </p:txBody>
      </p:sp>
    </p:spTree>
    <p:extLst>
      <p:ext uri="{BB962C8B-B14F-4D97-AF65-F5344CB8AC3E}">
        <p14:creationId xmlns:p14="http://schemas.microsoft.com/office/powerpoint/2010/main" val="28925351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7C78A1-8548-E983-6093-8B5377D9AA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DAB7F14-002E-EAC9-66CC-FBD32269F7B0}"/>
              </a:ext>
            </a:extLst>
          </p:cNvPr>
          <p:cNvSpPr txBox="1"/>
          <p:nvPr/>
        </p:nvSpPr>
        <p:spPr>
          <a:xfrm>
            <a:off x="294967" y="483927"/>
            <a:ext cx="858356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dirty="0"/>
              <a:t>Methodology: Incident Linking &amp; Resolution</a:t>
            </a:r>
            <a:endParaRPr lang="en-IN" sz="34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8BAA8E5-3BBB-52F2-BE73-67020C2914B2}"/>
              </a:ext>
            </a:extLst>
          </p:cNvPr>
          <p:cNvSpPr txBox="1"/>
          <p:nvPr/>
        </p:nvSpPr>
        <p:spPr>
          <a:xfrm>
            <a:off x="294967" y="1333843"/>
            <a:ext cx="9006349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000" b="1" dirty="0"/>
              <a:t>Incident Linking</a:t>
            </a:r>
            <a:endParaRPr lang="en-IN" sz="20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Candidate Retrieval:</a:t>
            </a:r>
            <a:r>
              <a:rPr lang="en-IN" sz="2000" dirty="0"/>
              <a:t> </a:t>
            </a:r>
            <a:r>
              <a:rPr lang="en-IN" sz="2000" dirty="0" err="1"/>
              <a:t>MiniLM</a:t>
            </a:r>
            <a:r>
              <a:rPr lang="en-IN" sz="2000" dirty="0"/>
              <a:t> identifies semantically related reports.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Matching Signals:</a:t>
            </a:r>
            <a:r>
              <a:rPr lang="en-IN" sz="2000" dirty="0"/>
              <a:t> Text similarity + location + time.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Incident Scoring:</a:t>
            </a:r>
            <a:r>
              <a:rPr lang="en-IN" sz="2000" dirty="0"/>
              <a:t> Logistic Regression combines matching signals.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Human Confirmation:</a:t>
            </a:r>
            <a:r>
              <a:rPr lang="en-IN" sz="2000" dirty="0"/>
              <a:t> Officer confirms same incident / separate incident / recurrence candidate. </a:t>
            </a:r>
          </a:p>
          <a:p>
            <a:pPr lvl="0"/>
            <a:endParaRPr lang="en-IN" sz="2000" dirty="0"/>
          </a:p>
          <a:p>
            <a:pPr>
              <a:buNone/>
            </a:pPr>
            <a:r>
              <a:rPr lang="en-IN" sz="2000" b="1" dirty="0"/>
              <a:t>Response Coverage</a:t>
            </a:r>
            <a:endParaRPr lang="en-IN" sz="20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Response Retrieval:</a:t>
            </a:r>
            <a:r>
              <a:rPr lang="en-IN" sz="2000" dirty="0"/>
              <a:t> </a:t>
            </a:r>
            <a:r>
              <a:rPr lang="en-IN" sz="2000" dirty="0" err="1"/>
              <a:t>MiniLM</a:t>
            </a:r>
            <a:r>
              <a:rPr lang="en-IN" sz="2000" dirty="0"/>
              <a:t> identifies relevant response passages.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Coverage Classification:</a:t>
            </a:r>
            <a:r>
              <a:rPr lang="en-IN" sz="2000" dirty="0"/>
              <a:t> IndicBERTv2 pair classifier.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Output:</a:t>
            </a:r>
            <a:r>
              <a:rPr lang="en-IN" sz="2000" dirty="0"/>
              <a:t> Addressed / Partial / Not Addressed / Unclear.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Officer Verification:</a:t>
            </a:r>
            <a:r>
              <a:rPr lang="en-IN" sz="2000" dirty="0"/>
              <a:t> Municipal Officer reviews the result before resolution.</a:t>
            </a:r>
          </a:p>
          <a:p>
            <a:pPr lvl="0"/>
            <a:r>
              <a:rPr lang="en-IN" sz="2000" dirty="0"/>
              <a:t> </a:t>
            </a:r>
          </a:p>
          <a:p>
            <a:pPr>
              <a:buNone/>
            </a:pPr>
            <a:r>
              <a:rPr lang="en-IN" sz="2000" b="1" dirty="0"/>
              <a:t>Recurrence &amp; Hotspots</a:t>
            </a:r>
            <a:endParaRPr lang="en-IN" sz="20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Recurrence:</a:t>
            </a:r>
            <a:r>
              <a:rPr lang="en-IN" sz="2000" dirty="0"/>
              <a:t> Event history + similarity identifies later reports after resolution.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Hotspots:</a:t>
            </a:r>
            <a:r>
              <a:rPr lang="en-IN" sz="2000" dirty="0"/>
              <a:t> </a:t>
            </a:r>
            <a:r>
              <a:rPr lang="en-IN" sz="2000" dirty="0" err="1"/>
              <a:t>PostGIS</a:t>
            </a:r>
            <a:r>
              <a:rPr lang="en-IN" sz="2000" dirty="0"/>
              <a:t> identifies spatial concentrations of civic issues.</a:t>
            </a:r>
          </a:p>
        </p:txBody>
      </p:sp>
    </p:spTree>
    <p:extLst>
      <p:ext uri="{BB962C8B-B14F-4D97-AF65-F5344CB8AC3E}">
        <p14:creationId xmlns:p14="http://schemas.microsoft.com/office/powerpoint/2010/main" val="108548006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3D145-3730-437B-AD54-26DB6A651E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117" y="156190"/>
            <a:ext cx="10515600" cy="1325563"/>
          </a:xfrm>
        </p:spPr>
        <p:txBody>
          <a:bodyPr>
            <a:noAutofit/>
          </a:bodyPr>
          <a:lstStyle/>
          <a:p>
            <a:pPr>
              <a:defRPr sz="4400" b="0" i="0">
                <a:solidFill>
                  <a:srgbClr val="000000"/>
                </a:solidFill>
                <a:latin typeface="Calibri Light"/>
                <a:ea typeface="Calibri Light"/>
                <a:cs typeface="Calibri Light"/>
              </a:defRPr>
            </a:pPr>
            <a:r>
              <a:rPr lang="en-IN" sz="3600" dirty="0">
                <a:solidFill>
                  <a:srgbClr val="000000"/>
                </a:solidFill>
                <a:latin typeface="Calibri Light"/>
              </a:rPr>
              <a:t>Methodology: Data, Workflow &amp; Safeguards</a:t>
            </a:r>
            <a:endParaRPr sz="3600" i="0" dirty="0">
              <a:solidFill>
                <a:srgbClr val="000000"/>
              </a:solidFill>
              <a:latin typeface="Calibri Light"/>
              <a:ea typeface="Calibri Light"/>
              <a:cs typeface="Calibri Light"/>
            </a:endParaRPr>
          </a:p>
        </p:txBody>
      </p:sp>
      <p:pic>
        <p:nvPicPr>
          <p:cNvPr id="1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2421" y="0"/>
            <a:ext cx="1751379" cy="815788"/>
          </a:xfrm>
          <a:prstGeom prst="rect">
            <a:avLst/>
          </a:prstGeom>
        </p:spPr>
      </p:pic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8AB4852-5DAC-49DF-86F3-2BB78C44CE86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Indian Institute of Information Technology Kottayam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08CB720-F236-452B-BB58-9BF0AEE75ED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>
              <a:buNone/>
              <a:defRPr sz="1600">
                <a:solidFill>
                  <a:srgbClr val="898989"/>
                </a:solidFill>
                <a:latin typeface="Calibri"/>
                <a:ea typeface="Calibri"/>
                <a:cs typeface="Calibri"/>
              </a:defRPr>
            </a:pPr>
            <a:fld id="{EA83FA91-883A-0168-8075-96CEB9DCA3C2}" type="slidenum">
              <a:rPr sz="1600">
                <a:solidFill>
                  <a:srgbClr val="898989"/>
                </a:solidFill>
                <a:latin typeface="Calibri"/>
                <a:ea typeface="Calibri"/>
                <a:cs typeface="Calibri"/>
              </a:rPr>
              <a:t>15</a:t>
            </a:fld>
            <a:endParaRPr sz="160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3268534-1DDF-9CDF-4448-4C65C37B1B62}"/>
              </a:ext>
            </a:extLst>
          </p:cNvPr>
          <p:cNvSpPr txBox="1"/>
          <p:nvPr/>
        </p:nvSpPr>
        <p:spPr>
          <a:xfrm>
            <a:off x="255639" y="1305341"/>
            <a:ext cx="9726561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Data &amp; Annotation</a:t>
            </a:r>
            <a:endParaRPr lang="en-IN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/>
              <a:t>Complaint Text:</a:t>
            </a:r>
            <a:r>
              <a:rPr lang="en-IN" dirty="0"/>
              <a:t> Reviewed local examples for issue and category labels.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/>
              <a:t>Issue Spans:</a:t>
            </a:r>
            <a:r>
              <a:rPr lang="en-IN" dirty="0"/>
              <a:t> BIO annotations for issue extraction.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/>
              <a:t>Images:</a:t>
            </a:r>
            <a:r>
              <a:rPr lang="en-IN" dirty="0"/>
              <a:t> RDD2022, TACO, and local scenes where required.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/>
              <a:t>Incident / Response Pairs:</a:t>
            </a:r>
            <a:r>
              <a:rPr lang="en-IN" dirty="0"/>
              <a:t> Reviewed examples for matching and coverage.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/>
              <a:t>Embeddings:</a:t>
            </a:r>
            <a:r>
              <a:rPr lang="en-IN" dirty="0"/>
              <a:t> Pretrained multilingual </a:t>
            </a:r>
            <a:r>
              <a:rPr lang="en-IN" dirty="0" err="1"/>
              <a:t>MiniLM</a:t>
            </a:r>
            <a:r>
              <a:rPr lang="en-IN" dirty="0"/>
              <a:t>. </a:t>
            </a:r>
          </a:p>
          <a:p>
            <a:pPr lvl="0"/>
            <a:endParaRPr lang="en-IN" dirty="0"/>
          </a:p>
          <a:p>
            <a:pPr>
              <a:buNone/>
            </a:pPr>
            <a:r>
              <a:rPr lang="en-IN" b="1" dirty="0"/>
              <a:t>Rules &amp; Workflow</a:t>
            </a:r>
            <a:endParaRPr lang="en-IN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/>
              <a:t>Jurisdiction &amp; Routing:</a:t>
            </a:r>
            <a:r>
              <a:rPr lang="en-IN" dirty="0"/>
              <a:t> Configured rules and approved issue-to-department mappings.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/>
              <a:t>Priority &amp; SLA:</a:t>
            </a:r>
            <a:r>
              <a:rPr lang="en-IN" dirty="0"/>
              <a:t> Policy-based deadlines and escalation rules.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/>
              <a:t>AI Failure:</a:t>
            </a:r>
            <a:r>
              <a:rPr lang="en-IN" dirty="0"/>
              <a:t> Manual workflow remains available. </a:t>
            </a:r>
          </a:p>
          <a:p>
            <a:pPr lvl="0"/>
            <a:endParaRPr lang="en-IN" dirty="0"/>
          </a:p>
          <a:p>
            <a:pPr>
              <a:buNone/>
            </a:pPr>
            <a:r>
              <a:rPr lang="en-IN" b="1" dirty="0"/>
              <a:t>Decision Safeguards</a:t>
            </a:r>
            <a:endParaRPr lang="en-IN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AI suggestions remain reviewable and traceable.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Officers verify field evidence before resolution.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Feedback, appeals, and audit records are maintained.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Role-based access protects workflow data.</a:t>
            </a:r>
          </a:p>
        </p:txBody>
      </p:sp>
    </p:spTree>
    <p:extLst>
      <p:ext uri="{BB962C8B-B14F-4D97-AF65-F5344CB8AC3E}">
        <p14:creationId xmlns:p14="http://schemas.microsoft.com/office/powerpoint/2010/main" val="146270223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B5BA8B-A270-0971-8435-FCA2E4B51A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4B57C7C-10ED-4EC6-AE9F-AE81B1E6F2FD}"/>
              </a:ext>
            </a:extLst>
          </p:cNvPr>
          <p:cNvSpPr txBox="1"/>
          <p:nvPr/>
        </p:nvSpPr>
        <p:spPr>
          <a:xfrm>
            <a:off x="137652" y="275303"/>
            <a:ext cx="636147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dirty="0"/>
              <a:t>Methodology: Training &amp; Evaluation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D4BE32E-BE2E-FEBD-C4DE-6279B014BF24}"/>
              </a:ext>
            </a:extLst>
          </p:cNvPr>
          <p:cNvSpPr txBox="1"/>
          <p:nvPr/>
        </p:nvSpPr>
        <p:spPr>
          <a:xfrm>
            <a:off x="226140" y="1033258"/>
            <a:ext cx="7993627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Training Strategy</a:t>
            </a:r>
            <a:endParaRPr lang="en-IN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Use reviewed labels for supervised tasks and maintain separation by incident/source.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Train baselines first, then fine-tune selected models.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Tune thresholds on validation data and evaluate on held-out examples.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Local complaint-response data will be acquired subject to permission and availability.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0EA9E732-C799-3857-EB7B-130A5FC2DC0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22909023"/>
              </p:ext>
            </p:extLst>
          </p:nvPr>
        </p:nvGraphicFramePr>
        <p:xfrm>
          <a:off x="226140" y="3237763"/>
          <a:ext cx="10515600" cy="31089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2480598082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532155016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42369709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Task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Comparison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Measures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267015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Category Prediction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TF-IDF vs IndicBERTv2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Per-category F1, Macro-F1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14620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Issue Extraction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Rules vs BIO tagging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Exact-span F1, Missed Issues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719761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Incident Linking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Text-only vs Combined Signals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Matching Precision, False-link Rate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028004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Response Coverage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Similarity/Checklist vs Pair Classifier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Missed Issues, Wrong “Addressed” Labels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756968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Image Analysis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EfficientNet-B0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Image-label performance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6364692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Usability &amp; Safety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AI-assisted workflow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Review time, access correctness, safe fallback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404045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0210868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CE67707-F75E-21FA-E997-05690E61B35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522894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3D145-3730-437B-AD54-26DB6A651E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6419" y="254063"/>
            <a:ext cx="10515600" cy="1325563"/>
          </a:xfrm>
        </p:spPr>
        <p:txBody>
          <a:bodyPr>
            <a:noAutofit/>
          </a:bodyPr>
          <a:lstStyle/>
          <a:p>
            <a:pPr algn="l">
              <a:buNone/>
              <a:defRPr sz="4400" b="0" i="0">
                <a:solidFill>
                  <a:srgbClr val="000000"/>
                </a:solidFill>
                <a:latin typeface="Calibri Light"/>
                <a:ea typeface="Calibri Light"/>
                <a:cs typeface="Calibri Light"/>
              </a:defRPr>
            </a:pPr>
            <a:r>
              <a:rPr sz="3600" b="1" i="0" dirty="0">
                <a:solidFill>
                  <a:srgbClr val="000000"/>
                </a:solidFill>
                <a:latin typeface="Calibri Light"/>
                <a:ea typeface="Calibri Light"/>
                <a:cs typeface="Calibri Light"/>
              </a:rPr>
              <a:t>Applications of the Proposed 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6890B1-66C6-41FE-ACCE-C908BD3FFE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6419" y="1579626"/>
            <a:ext cx="10515600" cy="4115530"/>
          </a:xfrm>
        </p:spPr>
        <p:txBody>
          <a:bodyPr lIns="91440" tIns="45720" rIns="91440" bIns="45720">
            <a:noAutofit/>
          </a:bodyPr>
          <a:lstStyle/>
          <a:p>
            <a:pPr lvl="0">
              <a:lnSpc>
                <a:spcPct val="100000"/>
              </a:lnSpc>
            </a:pPr>
            <a:r>
              <a:rPr lang="en-IN" sz="2400" b="1" dirty="0"/>
              <a:t>Citizens / Residents:</a:t>
            </a:r>
            <a:r>
              <a:rPr lang="en-IN" sz="2400" dirty="0"/>
              <a:t> Submit complaints with text, images and location, track issue-level progress, and provide feedback or appeals. </a:t>
            </a:r>
          </a:p>
          <a:p>
            <a:pPr lvl="0">
              <a:lnSpc>
                <a:spcPct val="100000"/>
              </a:lnSpc>
            </a:pPr>
            <a:r>
              <a:rPr lang="en-IN" sz="2400" b="1" dirty="0"/>
              <a:t>Municipal Officers:</a:t>
            </a:r>
            <a:r>
              <a:rPr lang="en-IN" sz="2400" dirty="0"/>
              <a:t> Review AI-assisted issues and evidence, confirm jurisdiction and departments, manage work orders, verify field responses, and make final resolution decisions. </a:t>
            </a:r>
          </a:p>
          <a:p>
            <a:pPr lvl="0">
              <a:lnSpc>
                <a:spcPct val="100000"/>
              </a:lnSpc>
            </a:pPr>
            <a:r>
              <a:rPr lang="en-IN" sz="2400" b="1" dirty="0"/>
              <a:t>Field Workers:</a:t>
            </a:r>
            <a:r>
              <a:rPr lang="en-IN" sz="2400" dirty="0"/>
              <a:t> Receive assigned work through the mobile app, update work status, and upload before/after evidence for officer verification. </a:t>
            </a:r>
          </a:p>
          <a:p>
            <a:pPr lvl="0">
              <a:lnSpc>
                <a:spcPct val="100000"/>
              </a:lnSpc>
            </a:pPr>
            <a:r>
              <a:rPr lang="en-IN" sz="2400" b="1" dirty="0"/>
              <a:t>Senior Municipal Authorities:</a:t>
            </a:r>
            <a:r>
              <a:rPr lang="en-IN" sz="2400" dirty="0"/>
              <a:t> Monitor department and officer performance, SLA compliance, recurring issues and civic hotspots, with evidence-backed ratings and performance points.</a:t>
            </a:r>
          </a:p>
          <a:p>
            <a:pPr marL="228600" indent="-228600" algn="l">
              <a:lnSpc>
                <a:spcPct val="100000"/>
              </a:lnSpc>
              <a:spcAft>
                <a:spcPts val="1600"/>
              </a:spcAft>
              <a:buChar char="•"/>
              <a:defRPr sz="28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endParaRPr sz="24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1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2421" y="0"/>
            <a:ext cx="1751379" cy="815788"/>
          </a:xfrm>
          <a:prstGeom prst="rect">
            <a:avLst/>
          </a:prstGeom>
        </p:spPr>
      </p:pic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8AB4852-5DAC-49DF-86F3-2BB78C44CE86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Indian Institute of Information Technology Kottayam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08CB720-F236-452B-BB58-9BF0AEE75ED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>
              <a:buNone/>
              <a:defRPr sz="1600">
                <a:solidFill>
                  <a:srgbClr val="898989"/>
                </a:solidFill>
                <a:latin typeface="Calibri"/>
                <a:ea typeface="Calibri"/>
                <a:cs typeface="Calibri"/>
              </a:defRPr>
            </a:pPr>
            <a:fld id="{0BB18BA8-60F4-C50D-CD9B-1BB87D3E8506}" type="slidenum">
              <a:rPr sz="1600">
                <a:solidFill>
                  <a:srgbClr val="898989"/>
                </a:solidFill>
                <a:latin typeface="Calibri"/>
                <a:ea typeface="Calibri"/>
                <a:cs typeface="Calibri"/>
              </a:rPr>
              <a:t>18</a:t>
            </a:fld>
            <a:endParaRPr sz="1600"/>
          </a:p>
        </p:txBody>
      </p:sp>
    </p:spTree>
    <p:extLst>
      <p:ext uri="{BB962C8B-B14F-4D97-AF65-F5344CB8AC3E}">
        <p14:creationId xmlns:p14="http://schemas.microsoft.com/office/powerpoint/2010/main" val="146270223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DE5D67-8440-4970-A156-20BC30D6F0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8362" y="-127322"/>
            <a:ext cx="10515600" cy="1325563"/>
          </a:xfrm>
        </p:spPr>
        <p:txBody>
          <a:bodyPr>
            <a:noAutofit/>
          </a:bodyPr>
          <a:lstStyle/>
          <a:p>
            <a:pPr algn="l">
              <a:buNone/>
              <a:defRPr sz="4400" b="0" i="0">
                <a:solidFill>
                  <a:srgbClr val="000000"/>
                </a:solidFill>
                <a:latin typeface="Calibri Light"/>
                <a:ea typeface="Calibri Light"/>
                <a:cs typeface="Calibri Light"/>
              </a:defRPr>
            </a:pPr>
            <a:r>
              <a:rPr lang="en-IN" sz="3600" b="1" i="0" dirty="0">
                <a:solidFill>
                  <a:srgbClr val="000000"/>
                </a:solidFill>
                <a:latin typeface="Calibri Light"/>
                <a:ea typeface="Calibri Light"/>
                <a:cs typeface="Calibri Light"/>
              </a:rP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2818B7-3011-4F4A-BD53-740E486DDE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8362" y="949559"/>
            <a:ext cx="10515600" cy="4115530"/>
          </a:xfrm>
        </p:spPr>
        <p:txBody>
          <a:bodyPr lIns="91440" tIns="45720" rIns="91440" bIns="45720">
            <a:noAutofit/>
          </a:bodyPr>
          <a:lstStyle/>
          <a:p>
            <a:pPr lvl="0">
              <a:lnSpc>
                <a:spcPct val="100000"/>
              </a:lnSpc>
            </a:pPr>
            <a:r>
              <a:rPr lang="en-IN" sz="2400" b="1" dirty="0" err="1"/>
              <a:t>GrievanceGrid</a:t>
            </a:r>
            <a:r>
              <a:rPr lang="en-IN" sz="2400" b="1" dirty="0"/>
              <a:t> is an AI-assisted, evidence-aware civic grievance platform</a:t>
            </a:r>
            <a:r>
              <a:rPr lang="en-IN" sz="2400" dirty="0"/>
              <a:t> that separates complaints into individual issues and connects them with evidence, incidents, departments, actions, responses, and resolution. </a:t>
            </a:r>
          </a:p>
          <a:p>
            <a:pPr lvl="0">
              <a:lnSpc>
                <a:spcPct val="100000"/>
              </a:lnSpc>
            </a:pPr>
            <a:r>
              <a:rPr lang="en-IN" sz="2400" b="1" dirty="0"/>
              <a:t>AI assists while authorised officers verify and decide</a:t>
            </a:r>
            <a:r>
              <a:rPr lang="en-IN" sz="2400" dirty="0"/>
              <a:t>, supporting issue extraction, categorisation, multimodal evidence analysis, incident linking, and issue-level response coverage. </a:t>
            </a:r>
          </a:p>
          <a:p>
            <a:pPr lvl="0">
              <a:lnSpc>
                <a:spcPct val="100000"/>
              </a:lnSpc>
            </a:pPr>
            <a:r>
              <a:rPr lang="en-IN" sz="2400" b="1" dirty="0"/>
              <a:t>The end-to-end workflow connects citizens, municipal officers, field workers, and senior authorities</a:t>
            </a:r>
            <a:r>
              <a:rPr lang="en-IN" sz="2400" dirty="0"/>
              <a:t>, supporting work orders, before/after evidence, feedback and appeals, recurrence, hotspot analysis, SLA monitoring, and accountability. </a:t>
            </a:r>
          </a:p>
          <a:p>
            <a:pPr lvl="0">
              <a:lnSpc>
                <a:spcPct val="100000"/>
              </a:lnSpc>
            </a:pPr>
            <a:r>
              <a:rPr lang="en-IN" sz="2400" b="1" dirty="0"/>
              <a:t>The system will be developed incrementally</a:t>
            </a:r>
            <a:r>
              <a:rPr lang="en-IN" sz="2400" dirty="0"/>
              <a:t>, starting with the rule-based workflow and reviewed data, followed by AI integration and evaluation against simpler baselines.</a:t>
            </a:r>
          </a:p>
          <a:p>
            <a:pPr marL="228600" indent="-228600" algn="l">
              <a:spcAft>
                <a:spcPts val="1600"/>
              </a:spcAft>
              <a:buChar char="•"/>
              <a:defRPr sz="28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endParaRPr sz="24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1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2421" y="0"/>
            <a:ext cx="1751379" cy="815788"/>
          </a:xfrm>
          <a:prstGeom prst="rect">
            <a:avLst/>
          </a:prstGeom>
        </p:spPr>
      </p:pic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2BD27663-F911-4FAD-992B-984517AA5893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dirty="0"/>
              <a:t>Indian Institute of Information Technology Kottayam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3D43B81C-BD2D-438F-9007-383DA4FEFE5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>
              <a:buNone/>
              <a:defRPr sz="1600">
                <a:solidFill>
                  <a:srgbClr val="898989"/>
                </a:solidFill>
                <a:latin typeface="Calibri"/>
                <a:ea typeface="Calibri"/>
                <a:cs typeface="Calibri"/>
              </a:defRPr>
            </a:pPr>
            <a:fld id="{A4E99CEF-AF55-BA3C-ADF8-4E52E186DD8F}" type="slidenum">
              <a:rPr sz="1600">
                <a:solidFill>
                  <a:srgbClr val="898989"/>
                </a:solidFill>
                <a:latin typeface="Calibri"/>
                <a:ea typeface="Calibri"/>
                <a:cs typeface="Calibri"/>
              </a:rPr>
              <a:t>19</a:t>
            </a:fld>
            <a:endParaRPr sz="1600"/>
          </a:p>
        </p:txBody>
      </p:sp>
    </p:spTree>
    <p:extLst>
      <p:ext uri="{BB962C8B-B14F-4D97-AF65-F5344CB8AC3E}">
        <p14:creationId xmlns:p14="http://schemas.microsoft.com/office/powerpoint/2010/main" val="339698072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2421" y="0"/>
            <a:ext cx="1751379" cy="81578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A9AE4DF-8BC4-21EE-0CEA-96586DF3B8B9}"/>
              </a:ext>
            </a:extLst>
          </p:cNvPr>
          <p:cNvSpPr txBox="1"/>
          <p:nvPr/>
        </p:nvSpPr>
        <p:spPr>
          <a:xfrm>
            <a:off x="275304" y="171890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b="1" i="0" dirty="0">
                <a:solidFill>
                  <a:srgbClr val="000000"/>
                </a:solidFill>
                <a:latin typeface="Calibri Light"/>
                <a:ea typeface="Calibri Light"/>
                <a:cs typeface="Calibri Light"/>
              </a:rPr>
              <a:t>References</a:t>
            </a:r>
            <a:endParaRPr lang="en-IN"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57E55FBE-BA8D-1922-3BFE-18471295E6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2319023"/>
              </p:ext>
            </p:extLst>
          </p:nvPr>
        </p:nvGraphicFramePr>
        <p:xfrm>
          <a:off x="275304" y="815788"/>
          <a:ext cx="11192188" cy="598890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596094">
                  <a:extLst>
                    <a:ext uri="{9D8B030D-6E8A-4147-A177-3AD203B41FA5}">
                      <a16:colId xmlns:a16="http://schemas.microsoft.com/office/drawing/2014/main" val="4063380779"/>
                    </a:ext>
                  </a:extLst>
                </a:gridCol>
                <a:gridCol w="5596094">
                  <a:extLst>
                    <a:ext uri="{9D8B030D-6E8A-4147-A177-3AD203B41FA5}">
                      <a16:colId xmlns:a16="http://schemas.microsoft.com/office/drawing/2014/main" val="2401142324"/>
                    </a:ext>
                  </a:extLst>
                </a:gridCol>
              </a:tblGrid>
              <a:tr h="222676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300"/>
                    </a:p>
                  </a:txBody>
                  <a:tcPr marL="30429" marR="30429" marT="15214" marB="1521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300"/>
                    </a:p>
                  </a:txBody>
                  <a:tcPr marL="30429" marR="30429" marT="15214" marB="15214" anchor="ctr"/>
                </a:tc>
                <a:extLst>
                  <a:ext uri="{0D108BD9-81ED-4DB2-BD59-A6C34878D82A}">
                    <a16:rowId xmlns:a16="http://schemas.microsoft.com/office/drawing/2014/main" val="2336028173"/>
                  </a:ext>
                </a:extLst>
              </a:tr>
              <a:tr h="80176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[1] F. Shama, A. Aziz, and L. B. M. Deya, “CitySolution: A complaining task distributive mobile application for smart city corporation using deep learning,” SoftwareX, vol. 27, Art. no. 101829, 2024. [Online]. Available: </a:t>
                      </a:r>
                      <a:r>
                        <a:rPr lang="en-IN" sz="1300">
                          <a:hlinkClick r:id="rId4"/>
                        </a:rPr>
                        <a:t>https://doi.org/10.1016/j.softx.2024.101829</a:t>
                      </a:r>
                      <a:endParaRPr lang="en-IN" sz="1300"/>
                    </a:p>
                  </a:txBody>
                  <a:tcPr marL="30429" marR="30429" marT="15214" marB="1521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dirty="0"/>
                        <a:t>[8] Press Information Bureau, Government of India, “Centralised Public Grievance Redress and Monitoring System (CPGRAMS),” Aug. 9, 2026. [Online]. Available: </a:t>
                      </a:r>
                      <a:r>
                        <a:rPr lang="en-IN" sz="1300" dirty="0">
                          <a:hlinkClick r:id="rId5"/>
                        </a:rPr>
                        <a:t>https://www.pib.gov.in/PressReleasePage.aspx?PRID=2296724</a:t>
                      </a:r>
                      <a:endParaRPr lang="en-IN" sz="1300" dirty="0"/>
                    </a:p>
                  </a:txBody>
                  <a:tcPr marL="30429" marR="30429" marT="15214" marB="15214" anchor="ctr"/>
                </a:tc>
                <a:extLst>
                  <a:ext uri="{0D108BD9-81ED-4DB2-BD59-A6C34878D82A}">
                    <a16:rowId xmlns:a16="http://schemas.microsoft.com/office/drawing/2014/main" val="2632533956"/>
                  </a:ext>
                </a:extLst>
              </a:tr>
              <a:tr h="80176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dirty="0"/>
                        <a:t>[2] Z. Yang, M. Lu, and S. Huang, “A hybrid transformer-GNN framework for social governance and urban service allocation,” Scientific Reports, vol. 16, Art. no. 21118, 2026. [Online]. Available: </a:t>
                      </a:r>
                      <a:r>
                        <a:rPr lang="en-IN" sz="1300" dirty="0">
                          <a:hlinkClick r:id="rId6"/>
                        </a:rPr>
                        <a:t>https://doi.org/10.1038/s41598-026-49982-2</a:t>
                      </a:r>
                      <a:endParaRPr lang="en-IN" sz="1300" dirty="0"/>
                    </a:p>
                  </a:txBody>
                  <a:tcPr marL="30429" marR="30429" marT="15214" marB="1521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[9] DARPG, Government of India, “Comprehensive guidelines for handling the public grievances,” Office Memorandum, Aug. 23, 2024. [Online]. Available: </a:t>
                      </a:r>
                      <a:r>
                        <a:rPr lang="en-IN" sz="1300">
                          <a:hlinkClick r:id="rId7"/>
                        </a:rPr>
                        <a:t>https://darpg.gov.in/sites/default/files/Comprehensive_guidelines_for_handling_the_Public_Grievances.pdf</a:t>
                      </a:r>
                      <a:endParaRPr lang="en-IN" sz="1300"/>
                    </a:p>
                  </a:txBody>
                  <a:tcPr marL="30429" marR="30429" marT="15214" marB="15214" anchor="ctr"/>
                </a:tc>
                <a:extLst>
                  <a:ext uri="{0D108BD9-81ED-4DB2-BD59-A6C34878D82A}">
                    <a16:rowId xmlns:a16="http://schemas.microsoft.com/office/drawing/2014/main" val="512954311"/>
                  </a:ext>
                </a:extLst>
              </a:tr>
              <a:tr h="80176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[3] S. C. Rajkumar, D. Yuvasini, S. Selvarajan, and N. R. Sivakumar, “A zero-shot LLM framework for multimodal grievance classification, urgency scoring, and abuse detection in civic feedback systems,” Scientific Reports, vol. 16, Art. no. 2299, 2026. [Online]. Available: </a:t>
                      </a:r>
                      <a:r>
                        <a:rPr lang="en-IN" sz="1300">
                          <a:hlinkClick r:id="rId8"/>
                        </a:rPr>
                        <a:t>https://doi.org/10.1038/s41598-025-32079-7</a:t>
                      </a:r>
                      <a:endParaRPr lang="en-IN" sz="1300"/>
                    </a:p>
                  </a:txBody>
                  <a:tcPr marL="30429" marR="30429" marT="15214" marB="1521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[10] AI4Bharat, “IndicBERTv2-MLM-only,” model card. [Online]. Available: </a:t>
                      </a:r>
                      <a:r>
                        <a:rPr lang="en-IN" sz="1300">
                          <a:hlinkClick r:id="rId9"/>
                        </a:rPr>
                        <a:t>https://huggingface.co/ai4bharat/IndicBERTv2-MLM-only</a:t>
                      </a:r>
                      <a:endParaRPr lang="en-IN" sz="1300"/>
                    </a:p>
                  </a:txBody>
                  <a:tcPr marL="30429" marR="30429" marT="15214" marB="15214" anchor="ctr"/>
                </a:tc>
                <a:extLst>
                  <a:ext uri="{0D108BD9-81ED-4DB2-BD59-A6C34878D82A}">
                    <a16:rowId xmlns:a16="http://schemas.microsoft.com/office/drawing/2014/main" val="3038448367"/>
                  </a:ext>
                </a:extLst>
              </a:tr>
              <a:tr h="99479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[4] R. Deka and R. K. Srivastava, “Improving public service grievance analysis: A comparative study of topic modelling techniques with a multi-metric data cleaning framework,” Journal of Information Technology, Cybersecurity, and Artificial Intelligence, vol. 2, no. 3, pp. 41–53, 2025. [Online]. Available: </a:t>
                      </a:r>
                      <a:r>
                        <a:rPr lang="en-IN" sz="1300">
                          <a:hlinkClick r:id="rId10"/>
                        </a:rPr>
                        <a:t>https://doi.org/10.70715/jitcai.2025.v2.i3.031</a:t>
                      </a:r>
                      <a:endParaRPr lang="en-IN" sz="1300"/>
                    </a:p>
                  </a:txBody>
                  <a:tcPr marL="30429" marR="30429" marT="15214" marB="1521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[11] Sentence Transformers, “paraphrase-multilingual-MiniLM-L12-v2,” model card. [Online]. Available: </a:t>
                      </a:r>
                      <a:r>
                        <a:rPr lang="en-IN" sz="1300">
                          <a:hlinkClick r:id="rId11"/>
                        </a:rPr>
                        <a:t>https://huggingface.co/sentence-transformers/paraphrase-multilingual-MiniLM-L12-v2</a:t>
                      </a:r>
                      <a:endParaRPr lang="en-IN" sz="1300"/>
                    </a:p>
                  </a:txBody>
                  <a:tcPr marL="30429" marR="30429" marT="15214" marB="15214" anchor="ctr"/>
                </a:tc>
                <a:extLst>
                  <a:ext uri="{0D108BD9-81ED-4DB2-BD59-A6C34878D82A}">
                    <a16:rowId xmlns:a16="http://schemas.microsoft.com/office/drawing/2014/main" val="2902678345"/>
                  </a:ext>
                </a:extLst>
              </a:tr>
              <a:tr h="80176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[5] Press Information Bureau, Government of India, “Dr. Jitendra Singh launches the Intelligent Grievance Monitoring System (IGMS) 2.0 Public Grievance portal and Automated Analysis in Tree Dashboard,” Oct. 11, 2023. [Online]. Available: </a:t>
                      </a:r>
                      <a:r>
                        <a:rPr lang="en-IN" sz="1300">
                          <a:hlinkClick r:id="rId12"/>
                        </a:rPr>
                        <a:t>https://www.pib.gov.in/Pressreleaseshare.aspx?PRID=1966498</a:t>
                      </a:r>
                      <a:endParaRPr lang="en-IN" sz="1300"/>
                    </a:p>
                  </a:txBody>
                  <a:tcPr marL="30429" marR="30429" marT="15214" marB="1521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[12] PyTorch, “efficientnet_b0,” Torchvision documentation. [Online]. Available: </a:t>
                      </a:r>
                      <a:r>
                        <a:rPr lang="en-IN" sz="1300">
                          <a:hlinkClick r:id="rId13"/>
                        </a:rPr>
                        <a:t>https://docs.pytorch.org/vision/main/models/generated/torchvision.models.efficientnet_b0.html</a:t>
                      </a:r>
                      <a:endParaRPr lang="en-IN" sz="1300"/>
                    </a:p>
                  </a:txBody>
                  <a:tcPr marL="30429" marR="30429" marT="15214" marB="15214" anchor="ctr"/>
                </a:tc>
                <a:extLst>
                  <a:ext uri="{0D108BD9-81ED-4DB2-BD59-A6C34878D82A}">
                    <a16:rowId xmlns:a16="http://schemas.microsoft.com/office/drawing/2014/main" val="2729396045"/>
                  </a:ext>
                </a:extLst>
              </a:tr>
              <a:tr h="80176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[6] Press Information Bureau, Government of India, “Minister of State (PP) Dr Jitendra Singh launches the CPGRAMS AI-enabled Voice Chatbot Samadhan Didi,” May 30, 2026. [Online]. Available: </a:t>
                      </a:r>
                      <a:r>
                        <a:rPr lang="en-IN" sz="1300">
                          <a:hlinkClick r:id="rId14"/>
                        </a:rPr>
                        <a:t>https://www.pib.gov.in/PressReleasePage.aspx?PRID=2266985</a:t>
                      </a:r>
                      <a:endParaRPr lang="en-IN" sz="1300"/>
                    </a:p>
                  </a:txBody>
                  <a:tcPr marL="30429" marR="30429" marT="15214" marB="1521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[13] Sekilab, “RoadDamageDetector,” project repository and RDD2022 resources. [Online]. Available: </a:t>
                      </a:r>
                      <a:r>
                        <a:rPr lang="en-IN" sz="1300">
                          <a:hlinkClick r:id="rId15"/>
                        </a:rPr>
                        <a:t>https://github.com/sekilab/RoadDamageDetector</a:t>
                      </a:r>
                      <a:endParaRPr lang="en-IN" sz="1300"/>
                    </a:p>
                  </a:txBody>
                  <a:tcPr marL="30429" marR="30429" marT="15214" marB="15214" anchor="ctr"/>
                </a:tc>
                <a:extLst>
                  <a:ext uri="{0D108BD9-81ED-4DB2-BD59-A6C34878D82A}">
                    <a16:rowId xmlns:a16="http://schemas.microsoft.com/office/drawing/2014/main" val="2206756594"/>
                  </a:ext>
                </a:extLst>
              </a:tr>
              <a:tr h="6087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[7] Press Information Bureau, Government of India, “Parliament question: Strengthening of CPGRAMS,” Aug. 12, 2026. [Online]. Available: </a:t>
                      </a:r>
                      <a:r>
                        <a:rPr lang="en-IN" sz="1300">
                          <a:hlinkClick r:id="rId16"/>
                        </a:rPr>
                        <a:t>https://www.pib.gov.in/PressReleasePage.aspx?PRID=2298140</a:t>
                      </a:r>
                      <a:endParaRPr lang="en-IN" sz="1300"/>
                    </a:p>
                  </a:txBody>
                  <a:tcPr marL="30429" marR="30429" marT="15214" marB="1521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dirty="0"/>
                        <a:t>[14] P. Proença and P. Simões, “TACO,” dataset toolkit. [Online]. Available: </a:t>
                      </a:r>
                      <a:r>
                        <a:rPr lang="en-IN" sz="1300" dirty="0">
                          <a:hlinkClick r:id="rId17"/>
                        </a:rPr>
                        <a:t>https://github.com/pedropro/TACO</a:t>
                      </a:r>
                      <a:endParaRPr lang="en-IN" sz="1300" dirty="0"/>
                    </a:p>
                  </a:txBody>
                  <a:tcPr marL="30429" marR="30429" marT="15214" marB="15214" anchor="ctr"/>
                </a:tc>
                <a:extLst>
                  <a:ext uri="{0D108BD9-81ED-4DB2-BD59-A6C34878D82A}">
                    <a16:rowId xmlns:a16="http://schemas.microsoft.com/office/drawing/2014/main" val="286844272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613535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813</TotalTime>
  <Words>3127</Words>
  <Application>Microsoft Office PowerPoint</Application>
  <DocSecurity>0</DocSecurity>
  <PresentationFormat>Widescreen</PresentationFormat>
  <Paragraphs>232</Paragraphs>
  <Slides>20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Arial</vt:lpstr>
      <vt:lpstr>Calibri</vt:lpstr>
      <vt:lpstr>Calibri Light</vt:lpstr>
      <vt:lpstr>Office Theme</vt:lpstr>
      <vt:lpstr>GRIEVANCEGRID Evidence-Aware Civic Complaint and Resolution Platform</vt:lpstr>
      <vt:lpstr>Introduction</vt:lpstr>
      <vt:lpstr>Why GrievanceGrid? </vt:lpstr>
      <vt:lpstr>PowerPoint Presentation</vt:lpstr>
      <vt:lpstr>PowerPoint Presentation</vt:lpstr>
      <vt:lpstr>CPGRAMS: Existing AI and Next-Generation    Developments</vt:lpstr>
      <vt:lpstr>Motivation and Research Focus</vt:lpstr>
      <vt:lpstr>Scope of Work</vt:lpstr>
      <vt:lpstr>Problem Statement</vt:lpstr>
      <vt:lpstr>PowerPoint Presentation</vt:lpstr>
      <vt:lpstr>Architecture: Processing Flow</vt:lpstr>
      <vt:lpstr>Technology Choices: Why This Stack</vt:lpstr>
      <vt:lpstr>PowerPoint Presentation</vt:lpstr>
      <vt:lpstr>PowerPoint Presentation</vt:lpstr>
      <vt:lpstr>Methodology: Data, Workflow &amp; Safeguards</vt:lpstr>
      <vt:lpstr>PowerPoint Presentation</vt:lpstr>
      <vt:lpstr>PowerPoint Presentation</vt:lpstr>
      <vt:lpstr>Applications of the Proposed Work</vt:lpstr>
      <vt:lpstr>Conclusion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cp:lastModifiedBy>SIVASAI B</cp:lastModifiedBy>
  <cp:revision>14</cp:revision>
  <dcterms:created xsi:type="dcterms:W3CDTF">2026-09-08T06:43:48Z</dcterms:created>
  <dcterms:modified xsi:type="dcterms:W3CDTF">2026-09-19T21:12:59Z</dcterms:modified>
</cp:coreProperties>
</file>